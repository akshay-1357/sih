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Garamond" panose="02020404030301010803" pitchFamily="18" charset="0"/>
      <p:regular r:id="rId13"/>
      <p:bold r:id="rId14"/>
      <p:italic r:id="rId15"/>
      <p:boldItalic r:id="rId16"/>
    </p:embeddedFont>
    <p:embeddedFont>
      <p:font typeface="Libre Franklin Medium" pitchFamily="2" charset="0"/>
      <p:regular r:id="rId17"/>
      <p:bold r:id="rId18"/>
      <p:italic r:id="rId19"/>
      <p:boldItalic r:id="rId20"/>
    </p:embeddedFont>
    <p:embeddedFont>
      <p:font typeface="Oswald" panose="00000500000000000000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xoD2KpHHazB0N56h5bZBI+pzW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27CB9D-354E-472A-806C-A720A8C9C81F}" v="979" dt="2025-09-26T17:54:16.190"/>
    <p1510:client id="{F049CAE1-EBA0-93E8-0D93-03DA9280A935}" v="13" dt="2025-09-27T01:47:51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15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customschemas.google.com/relationships/presentationmetadata" Target="metadata"/><Relationship Id="rId28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6A1818-EC4F-438D-BAFA-33ADE0337E9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8736A4-4819-49DC-BBA5-B959FF0EE074}">
      <dgm:prSet phldrT="[Text]" phldr="0"/>
      <dgm:spPr/>
      <dgm:t>
        <a:bodyPr/>
        <a:lstStyle/>
        <a:p>
          <a:pPr rtl="0"/>
          <a:r>
            <a:rPr lang="en-US" sz="1200" dirty="0">
              <a:latin typeface="Oswald"/>
            </a:rPr>
            <a:t>Collection: Farmer records species, location, date, m</a:t>
          </a:r>
          <a:endParaRPr lang="en-US" dirty="0"/>
        </a:p>
      </dgm:t>
    </dgm:pt>
    <dgm:pt modelId="{0EEB4FBC-081A-4A68-9330-7CDAEFB27E45}" type="parTrans" cxnId="{D60DEA97-B015-4379-8A28-1816382F3B13}">
      <dgm:prSet/>
      <dgm:spPr/>
      <dgm:t>
        <a:bodyPr/>
        <a:lstStyle/>
        <a:p>
          <a:endParaRPr lang="en-US"/>
        </a:p>
      </dgm:t>
    </dgm:pt>
    <dgm:pt modelId="{096C34BF-3237-4DEC-B14F-288BD4D947C3}" type="sibTrans" cxnId="{D60DEA97-B015-4379-8A28-1816382F3B13}">
      <dgm:prSet/>
      <dgm:spPr/>
      <dgm:t>
        <a:bodyPr/>
        <a:lstStyle/>
        <a:p>
          <a:endParaRPr lang="en-US"/>
        </a:p>
      </dgm:t>
    </dgm:pt>
    <dgm:pt modelId="{B0267309-6713-4BEC-BF78-DEB1BD14A0CA}">
      <dgm:prSet phldr="0"/>
      <dgm:spPr/>
      <dgm:t>
        <a:bodyPr/>
        <a:lstStyle/>
        <a:p>
          <a:pPr algn="l" rtl="0"/>
          <a:r>
            <a:rPr lang="en-US" sz="1200">
              <a:latin typeface="Oswald"/>
            </a:rPr>
            <a:t>Processing: Transport &amp; processing steps logged</a:t>
          </a:r>
        </a:p>
      </dgm:t>
    </dgm:pt>
    <dgm:pt modelId="{96D325B5-39D5-4023-9370-0355911D62AD}" type="parTrans" cxnId="{41E79A65-4FCE-4C85-9343-A0DF10D6390B}">
      <dgm:prSet/>
      <dgm:spPr/>
    </dgm:pt>
    <dgm:pt modelId="{2A7C34F8-61C5-4F03-B1C5-924EED27D4CF}" type="sibTrans" cxnId="{41E79A65-4FCE-4C85-9343-A0DF10D6390B}">
      <dgm:prSet/>
      <dgm:spPr/>
    </dgm:pt>
    <dgm:pt modelId="{78A9E1A7-F5B1-4104-A643-B0CDC50FCFBA}">
      <dgm:prSet phldr="0"/>
      <dgm:spPr/>
      <dgm:t>
        <a:bodyPr/>
        <a:lstStyle/>
        <a:p>
          <a:pPr algn="l"/>
          <a:r>
            <a:rPr lang="en-US" sz="1200">
              <a:latin typeface="Oswald"/>
            </a:rPr>
            <a:t>Validation: Smart contract validates &amp; records to blockchain</a:t>
          </a:r>
        </a:p>
      </dgm:t>
    </dgm:pt>
    <dgm:pt modelId="{7124F43E-C427-4A39-978C-5DAFB3B770C2}" type="parTrans" cxnId="{437815E7-C2BE-4012-B6A6-5B7618C2CBE2}">
      <dgm:prSet/>
      <dgm:spPr/>
    </dgm:pt>
    <dgm:pt modelId="{18ED1D22-1F47-4599-8BE8-245ADEEF6C2A}" type="sibTrans" cxnId="{437815E7-C2BE-4012-B6A6-5B7618C2CBE2}">
      <dgm:prSet/>
      <dgm:spPr/>
    </dgm:pt>
    <dgm:pt modelId="{4FDEC24A-FC85-453B-9DB1-CE8928C79CDE}">
      <dgm:prSet phldr="0"/>
      <dgm:spPr/>
      <dgm:t>
        <a:bodyPr/>
        <a:lstStyle/>
        <a:p>
          <a:pPr algn="l"/>
          <a:r>
            <a:rPr lang="en-US" sz="1200">
              <a:latin typeface="Oswald"/>
            </a:rPr>
            <a:t>Labeling: Generate QR/smart label with blockchain link</a:t>
          </a:r>
        </a:p>
      </dgm:t>
    </dgm:pt>
    <dgm:pt modelId="{09167F58-C363-4A91-8131-8B161EABA4C0}" type="parTrans" cxnId="{6AA84740-72E6-4FB9-B7FA-8D1A9AE33F02}">
      <dgm:prSet/>
      <dgm:spPr/>
    </dgm:pt>
    <dgm:pt modelId="{CAE65197-0CF1-4577-AECF-8F9419C43786}" type="sibTrans" cxnId="{6AA84740-72E6-4FB9-B7FA-8D1A9AE33F02}">
      <dgm:prSet/>
      <dgm:spPr/>
    </dgm:pt>
    <dgm:pt modelId="{69E78CBA-8232-4DF0-9AF2-FA80DDA662C8}">
      <dgm:prSet phldr="0"/>
      <dgm:spPr/>
      <dgm:t>
        <a:bodyPr/>
        <a:lstStyle/>
        <a:p>
          <a:pPr algn="l"/>
          <a:r>
            <a:rPr lang="en-US" sz="1200" dirty="0">
              <a:latin typeface="Oswald"/>
            </a:rPr>
            <a:t>Verification: Consumer/regulator scans → full history displayed</a:t>
          </a:r>
        </a:p>
      </dgm:t>
    </dgm:pt>
    <dgm:pt modelId="{CBD11037-6877-472C-B358-028F8E655908}" type="parTrans" cxnId="{DE8CE210-B6B9-44E4-8E93-17C265267F52}">
      <dgm:prSet/>
      <dgm:spPr/>
    </dgm:pt>
    <dgm:pt modelId="{12FB8AB7-A90B-4299-A143-3200E960F930}" type="sibTrans" cxnId="{DE8CE210-B6B9-44E4-8E93-17C265267F52}">
      <dgm:prSet/>
      <dgm:spPr/>
    </dgm:pt>
    <dgm:pt modelId="{C4D2505E-3D82-4C71-8294-45E09CA929E2}" type="pres">
      <dgm:prSet presAssocID="{A46A1818-EC4F-438D-BAFA-33ADE0337E9B}" presName="diagram" presStyleCnt="0">
        <dgm:presLayoutVars>
          <dgm:dir/>
          <dgm:resizeHandles val="exact"/>
        </dgm:presLayoutVars>
      </dgm:prSet>
      <dgm:spPr/>
    </dgm:pt>
    <dgm:pt modelId="{328AA5B8-B8B5-4AEB-9811-A3E7C8C7D82C}" type="pres">
      <dgm:prSet presAssocID="{168736A4-4819-49DC-BBA5-B959FF0EE074}" presName="node" presStyleLbl="node1" presStyleIdx="0" presStyleCnt="5">
        <dgm:presLayoutVars>
          <dgm:bulletEnabled val="1"/>
        </dgm:presLayoutVars>
      </dgm:prSet>
      <dgm:spPr/>
    </dgm:pt>
    <dgm:pt modelId="{097D613A-D7A1-4A9F-94A0-23A85747BFE3}" type="pres">
      <dgm:prSet presAssocID="{096C34BF-3237-4DEC-B14F-288BD4D947C3}" presName="sibTrans" presStyleCnt="0"/>
      <dgm:spPr/>
    </dgm:pt>
    <dgm:pt modelId="{1296663F-D308-47B9-B82C-DF8EAF62E55A}" type="pres">
      <dgm:prSet presAssocID="{B0267309-6713-4BEC-BF78-DEB1BD14A0CA}" presName="node" presStyleLbl="node1" presStyleIdx="1" presStyleCnt="5">
        <dgm:presLayoutVars>
          <dgm:bulletEnabled val="1"/>
        </dgm:presLayoutVars>
      </dgm:prSet>
      <dgm:spPr/>
    </dgm:pt>
    <dgm:pt modelId="{D4FE7B4D-A7FD-4600-98EA-64D09DDDB428}" type="pres">
      <dgm:prSet presAssocID="{2A7C34F8-61C5-4F03-B1C5-924EED27D4CF}" presName="sibTrans" presStyleCnt="0"/>
      <dgm:spPr/>
    </dgm:pt>
    <dgm:pt modelId="{7DBE9A76-6F6D-4537-BF81-D57333F354A9}" type="pres">
      <dgm:prSet presAssocID="{78A9E1A7-F5B1-4104-A643-B0CDC50FCFBA}" presName="node" presStyleLbl="node1" presStyleIdx="2" presStyleCnt="5">
        <dgm:presLayoutVars>
          <dgm:bulletEnabled val="1"/>
        </dgm:presLayoutVars>
      </dgm:prSet>
      <dgm:spPr/>
    </dgm:pt>
    <dgm:pt modelId="{EC072C85-DBE0-4604-823D-B5D5F50990E1}" type="pres">
      <dgm:prSet presAssocID="{18ED1D22-1F47-4599-8BE8-245ADEEF6C2A}" presName="sibTrans" presStyleCnt="0"/>
      <dgm:spPr/>
    </dgm:pt>
    <dgm:pt modelId="{F3C616C4-E72E-4E30-858E-302D3F43F26C}" type="pres">
      <dgm:prSet presAssocID="{4FDEC24A-FC85-453B-9DB1-CE8928C79CDE}" presName="node" presStyleLbl="node1" presStyleIdx="3" presStyleCnt="5">
        <dgm:presLayoutVars>
          <dgm:bulletEnabled val="1"/>
        </dgm:presLayoutVars>
      </dgm:prSet>
      <dgm:spPr/>
    </dgm:pt>
    <dgm:pt modelId="{01C99A32-A434-47A0-B1AA-698F297A790D}" type="pres">
      <dgm:prSet presAssocID="{CAE65197-0CF1-4577-AECF-8F9419C43786}" presName="sibTrans" presStyleCnt="0"/>
      <dgm:spPr/>
    </dgm:pt>
    <dgm:pt modelId="{1CBF6F87-9F2E-4EBD-B729-51E3C21B08DA}" type="pres">
      <dgm:prSet presAssocID="{69E78CBA-8232-4DF0-9AF2-FA80DDA662C8}" presName="node" presStyleLbl="node1" presStyleIdx="4" presStyleCnt="5">
        <dgm:presLayoutVars>
          <dgm:bulletEnabled val="1"/>
        </dgm:presLayoutVars>
      </dgm:prSet>
      <dgm:spPr/>
    </dgm:pt>
  </dgm:ptLst>
  <dgm:cxnLst>
    <dgm:cxn modelId="{DE8CE210-B6B9-44E4-8E93-17C265267F52}" srcId="{A46A1818-EC4F-438D-BAFA-33ADE0337E9B}" destId="{69E78CBA-8232-4DF0-9AF2-FA80DDA662C8}" srcOrd="4" destOrd="0" parTransId="{CBD11037-6877-472C-B358-028F8E655908}" sibTransId="{12FB8AB7-A90B-4299-A143-3200E960F930}"/>
    <dgm:cxn modelId="{6AA84740-72E6-4FB9-B7FA-8D1A9AE33F02}" srcId="{A46A1818-EC4F-438D-BAFA-33ADE0337E9B}" destId="{4FDEC24A-FC85-453B-9DB1-CE8928C79CDE}" srcOrd="3" destOrd="0" parTransId="{09167F58-C363-4A91-8131-8B161EABA4C0}" sibTransId="{CAE65197-0CF1-4577-AECF-8F9419C43786}"/>
    <dgm:cxn modelId="{41E79A65-4FCE-4C85-9343-A0DF10D6390B}" srcId="{A46A1818-EC4F-438D-BAFA-33ADE0337E9B}" destId="{B0267309-6713-4BEC-BF78-DEB1BD14A0CA}" srcOrd="1" destOrd="0" parTransId="{96D325B5-39D5-4023-9370-0355911D62AD}" sibTransId="{2A7C34F8-61C5-4F03-B1C5-924EED27D4CF}"/>
    <dgm:cxn modelId="{C5A6586B-605F-4BE9-9E04-73B2583C2394}" type="presOf" srcId="{A46A1818-EC4F-438D-BAFA-33ADE0337E9B}" destId="{C4D2505E-3D82-4C71-8294-45E09CA929E2}" srcOrd="0" destOrd="0" presId="urn:microsoft.com/office/officeart/2005/8/layout/default"/>
    <dgm:cxn modelId="{D60DEA97-B015-4379-8A28-1816382F3B13}" srcId="{A46A1818-EC4F-438D-BAFA-33ADE0337E9B}" destId="{168736A4-4819-49DC-BBA5-B959FF0EE074}" srcOrd="0" destOrd="0" parTransId="{0EEB4FBC-081A-4A68-9330-7CDAEFB27E45}" sibTransId="{096C34BF-3237-4DEC-B14F-288BD4D947C3}"/>
    <dgm:cxn modelId="{5325DA9A-E85F-4B54-815F-54BE0061815C}" type="presOf" srcId="{168736A4-4819-49DC-BBA5-B959FF0EE074}" destId="{328AA5B8-B8B5-4AEB-9811-A3E7C8C7D82C}" srcOrd="0" destOrd="0" presId="urn:microsoft.com/office/officeart/2005/8/layout/default"/>
    <dgm:cxn modelId="{8B583EC5-4A04-4064-A15B-34D0C2AE5675}" type="presOf" srcId="{4FDEC24A-FC85-453B-9DB1-CE8928C79CDE}" destId="{F3C616C4-E72E-4E30-858E-302D3F43F26C}" srcOrd="0" destOrd="0" presId="urn:microsoft.com/office/officeart/2005/8/layout/default"/>
    <dgm:cxn modelId="{437815E7-C2BE-4012-B6A6-5B7618C2CBE2}" srcId="{A46A1818-EC4F-438D-BAFA-33ADE0337E9B}" destId="{78A9E1A7-F5B1-4104-A643-B0CDC50FCFBA}" srcOrd="2" destOrd="0" parTransId="{7124F43E-C427-4A39-978C-5DAFB3B770C2}" sibTransId="{18ED1D22-1F47-4599-8BE8-245ADEEF6C2A}"/>
    <dgm:cxn modelId="{25D627EA-80B2-4F46-8702-A26C24EDF5B5}" type="presOf" srcId="{69E78CBA-8232-4DF0-9AF2-FA80DDA662C8}" destId="{1CBF6F87-9F2E-4EBD-B729-51E3C21B08DA}" srcOrd="0" destOrd="0" presId="urn:microsoft.com/office/officeart/2005/8/layout/default"/>
    <dgm:cxn modelId="{B4C876ED-3526-440A-BBA1-73F95F73B418}" type="presOf" srcId="{B0267309-6713-4BEC-BF78-DEB1BD14A0CA}" destId="{1296663F-D308-47B9-B82C-DF8EAF62E55A}" srcOrd="0" destOrd="0" presId="urn:microsoft.com/office/officeart/2005/8/layout/default"/>
    <dgm:cxn modelId="{37CB35F9-B3E4-44E5-8C2A-AFA023820D8C}" type="presOf" srcId="{78A9E1A7-F5B1-4104-A643-B0CDC50FCFBA}" destId="{7DBE9A76-6F6D-4537-BF81-D57333F354A9}" srcOrd="0" destOrd="0" presId="urn:microsoft.com/office/officeart/2005/8/layout/default"/>
    <dgm:cxn modelId="{786446C8-194B-41E9-B95A-C8F13D9EC8F0}" type="presParOf" srcId="{C4D2505E-3D82-4C71-8294-45E09CA929E2}" destId="{328AA5B8-B8B5-4AEB-9811-A3E7C8C7D82C}" srcOrd="0" destOrd="0" presId="urn:microsoft.com/office/officeart/2005/8/layout/default"/>
    <dgm:cxn modelId="{A231A3ED-B703-4EC1-854D-AEC82805D2FA}" type="presParOf" srcId="{C4D2505E-3D82-4C71-8294-45E09CA929E2}" destId="{097D613A-D7A1-4A9F-94A0-23A85747BFE3}" srcOrd="1" destOrd="0" presId="urn:microsoft.com/office/officeart/2005/8/layout/default"/>
    <dgm:cxn modelId="{933F3DA7-288B-439C-BBD6-6C8A813CC14A}" type="presParOf" srcId="{C4D2505E-3D82-4C71-8294-45E09CA929E2}" destId="{1296663F-D308-47B9-B82C-DF8EAF62E55A}" srcOrd="2" destOrd="0" presId="urn:microsoft.com/office/officeart/2005/8/layout/default"/>
    <dgm:cxn modelId="{5249CFB4-E59B-4251-9101-53583B572234}" type="presParOf" srcId="{C4D2505E-3D82-4C71-8294-45E09CA929E2}" destId="{D4FE7B4D-A7FD-4600-98EA-64D09DDDB428}" srcOrd="3" destOrd="0" presId="urn:microsoft.com/office/officeart/2005/8/layout/default"/>
    <dgm:cxn modelId="{4A2E3F02-321E-463C-8054-FDEED77BDA6A}" type="presParOf" srcId="{C4D2505E-3D82-4C71-8294-45E09CA929E2}" destId="{7DBE9A76-6F6D-4537-BF81-D57333F354A9}" srcOrd="4" destOrd="0" presId="urn:microsoft.com/office/officeart/2005/8/layout/default"/>
    <dgm:cxn modelId="{F7EF96F0-F7B8-42A3-A0B5-878FB80D4A7B}" type="presParOf" srcId="{C4D2505E-3D82-4C71-8294-45E09CA929E2}" destId="{EC072C85-DBE0-4604-823D-B5D5F50990E1}" srcOrd="5" destOrd="0" presId="urn:microsoft.com/office/officeart/2005/8/layout/default"/>
    <dgm:cxn modelId="{61025BBA-4777-4D09-972D-E0FB6FDD46EF}" type="presParOf" srcId="{C4D2505E-3D82-4C71-8294-45E09CA929E2}" destId="{F3C616C4-E72E-4E30-858E-302D3F43F26C}" srcOrd="6" destOrd="0" presId="urn:microsoft.com/office/officeart/2005/8/layout/default"/>
    <dgm:cxn modelId="{24BCB6DE-D0CD-4A33-B2B0-761B209ACFDB}" type="presParOf" srcId="{C4D2505E-3D82-4C71-8294-45E09CA929E2}" destId="{01C99A32-A434-47A0-B1AA-698F297A790D}" srcOrd="7" destOrd="0" presId="urn:microsoft.com/office/officeart/2005/8/layout/default"/>
    <dgm:cxn modelId="{E47F5F41-66D8-4833-95E3-F850613E27EC}" type="presParOf" srcId="{C4D2505E-3D82-4C71-8294-45E09CA929E2}" destId="{1CBF6F87-9F2E-4EBD-B729-51E3C21B08D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AA5B8-B8B5-4AEB-9811-A3E7C8C7D82C}">
      <dsp:nvSpPr>
        <dsp:cNvPr id="0" name=""/>
        <dsp:cNvSpPr/>
      </dsp:nvSpPr>
      <dsp:spPr>
        <a:xfrm>
          <a:off x="0" y="504058"/>
          <a:ext cx="1970689" cy="1182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Oswald"/>
            </a:rPr>
            <a:t>Collection: Farmer records species, location, date, m</a:t>
          </a:r>
          <a:endParaRPr lang="en-US" sz="1200" kern="1200" dirty="0"/>
        </a:p>
      </dsp:txBody>
      <dsp:txXfrm>
        <a:off x="0" y="504058"/>
        <a:ext cx="1970689" cy="1182413"/>
      </dsp:txXfrm>
    </dsp:sp>
    <dsp:sp modelId="{1296663F-D308-47B9-B82C-DF8EAF62E55A}">
      <dsp:nvSpPr>
        <dsp:cNvPr id="0" name=""/>
        <dsp:cNvSpPr/>
      </dsp:nvSpPr>
      <dsp:spPr>
        <a:xfrm>
          <a:off x="2167758" y="504058"/>
          <a:ext cx="1970689" cy="1182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Oswald"/>
            </a:rPr>
            <a:t>Processing: Transport &amp; processing steps logged</a:t>
          </a:r>
        </a:p>
      </dsp:txBody>
      <dsp:txXfrm>
        <a:off x="2167758" y="504058"/>
        <a:ext cx="1970689" cy="1182413"/>
      </dsp:txXfrm>
    </dsp:sp>
    <dsp:sp modelId="{7DBE9A76-6F6D-4537-BF81-D57333F354A9}">
      <dsp:nvSpPr>
        <dsp:cNvPr id="0" name=""/>
        <dsp:cNvSpPr/>
      </dsp:nvSpPr>
      <dsp:spPr>
        <a:xfrm>
          <a:off x="4335517" y="504058"/>
          <a:ext cx="1970689" cy="1182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Oswald"/>
            </a:rPr>
            <a:t>Validation: Smart contract validates &amp; records to blockchain</a:t>
          </a:r>
        </a:p>
      </dsp:txBody>
      <dsp:txXfrm>
        <a:off x="4335517" y="504058"/>
        <a:ext cx="1970689" cy="1182413"/>
      </dsp:txXfrm>
    </dsp:sp>
    <dsp:sp modelId="{F3C616C4-E72E-4E30-858E-302D3F43F26C}">
      <dsp:nvSpPr>
        <dsp:cNvPr id="0" name=""/>
        <dsp:cNvSpPr/>
      </dsp:nvSpPr>
      <dsp:spPr>
        <a:xfrm>
          <a:off x="1083879" y="1883540"/>
          <a:ext cx="1970689" cy="1182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Oswald"/>
            </a:rPr>
            <a:t>Labeling: Generate QR/smart label with blockchain link</a:t>
          </a:r>
        </a:p>
      </dsp:txBody>
      <dsp:txXfrm>
        <a:off x="1083879" y="1883540"/>
        <a:ext cx="1970689" cy="1182413"/>
      </dsp:txXfrm>
    </dsp:sp>
    <dsp:sp modelId="{1CBF6F87-9F2E-4EBD-B729-51E3C21B08DA}">
      <dsp:nvSpPr>
        <dsp:cNvPr id="0" name=""/>
        <dsp:cNvSpPr/>
      </dsp:nvSpPr>
      <dsp:spPr>
        <a:xfrm>
          <a:off x="3251637" y="1883540"/>
          <a:ext cx="1970689" cy="1182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Oswald"/>
            </a:rPr>
            <a:t>Verification: Consumer/regulator scans → full history displayed</a:t>
          </a:r>
        </a:p>
      </dsp:txBody>
      <dsp:txXfrm>
        <a:off x="3251637" y="1883540"/>
        <a:ext cx="1970689" cy="1182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164898" y="8758"/>
            <a:ext cx="10492826" cy="1874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592435" y="1210625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991994" y="2074984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45686" y="1366819"/>
            <a:ext cx="8534400" cy="517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b="1" dirty="0">
                <a:solidFill>
                  <a:schemeClr val="dk1"/>
                </a:solidFill>
                <a:latin typeface="Times New Roman"/>
                <a:cs typeface="Times New Roman"/>
              </a:rPr>
              <a:t>TITLE PAGE</a:t>
            </a:r>
            <a:endParaRPr lang="en-US" dirty="0"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b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489243"/>
            <a:ext cx="10336925" cy="72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277898"/>
            <a:ext cx="760620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</a:t>
            </a:r>
            <a:r>
              <a:rPr lang="en-US" sz="1800" b="1" dirty="0">
                <a:solidFill>
                  <a:schemeClr val="dk1"/>
                </a:solidFill>
              </a:rPr>
              <a:t>- </a:t>
            </a:r>
            <a:r>
              <a:rPr lang="en-US" sz="1600" dirty="0">
                <a:solidFill>
                  <a:schemeClr val="dk1"/>
                </a:solidFill>
              </a:rPr>
              <a:t>SIH25027</a:t>
            </a:r>
            <a:endParaRPr lang="en-US" sz="1600" b="1" dirty="0">
              <a:solidFill>
                <a:schemeClr val="dk1"/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Problem Statement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>
                <a:solidFill>
                  <a:schemeClr val="dk1"/>
                </a:solidFill>
              </a:rPr>
              <a:t>Title </a:t>
            </a:r>
            <a:r>
              <a:rPr lang="en-US" sz="2400" b="1" dirty="0">
                <a:solidFill>
                  <a:schemeClr val="dk1"/>
                </a:solidFill>
              </a:rPr>
              <a:t>- </a:t>
            </a:r>
            <a:endParaRPr lang="en-US"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Theme </a:t>
            </a:r>
            <a:r>
              <a:rPr lang="en-US" sz="2400" b="1" dirty="0">
                <a:solidFill>
                  <a:schemeClr val="dk1"/>
                </a:solidFill>
              </a:rPr>
              <a:t>-</a:t>
            </a:r>
            <a:endParaRPr lang="en-US" sz="1200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</a:t>
            </a:r>
            <a:r>
              <a:rPr lang="en-US" sz="1800" b="1" dirty="0">
                <a:solidFill>
                  <a:schemeClr val="dk1"/>
                </a:solidFill>
              </a:rPr>
              <a:t>Category -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lang="en-US" sz="1800" b="1" dirty="0">
                <a:solidFill>
                  <a:schemeClr val="dk1"/>
                </a:solidFill>
              </a:rPr>
              <a:t>ID -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US" sz="2400" b="1" dirty="0">
                <a:solidFill>
                  <a:schemeClr val="dk1"/>
                </a:solidFill>
              </a:rPr>
              <a:t> - </a:t>
            </a:r>
            <a:r>
              <a:rPr lang="en-US" sz="1600" dirty="0">
                <a:solidFill>
                  <a:schemeClr val="dk1"/>
                </a:solidFill>
              </a:rPr>
              <a:t>Byte blasters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1BDA7A-FEDB-C666-081E-6B36BB8D01AC}"/>
              </a:ext>
            </a:extLst>
          </p:cNvPr>
          <p:cNvSpPr txBox="1"/>
          <p:nvPr/>
        </p:nvSpPr>
        <p:spPr>
          <a:xfrm>
            <a:off x="3599518" y="3046904"/>
            <a:ext cx="399119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</a:rPr>
              <a:t>Blockchain-based System for Botanical Traceability of Ayurvedic Herbs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2A302-505F-DD81-6EAE-B95D0A66BAB9}"/>
              </a:ext>
            </a:extLst>
          </p:cNvPr>
          <p:cNvSpPr txBox="1"/>
          <p:nvPr/>
        </p:nvSpPr>
        <p:spPr>
          <a:xfrm>
            <a:off x="1762124" y="3917156"/>
            <a:ext cx="48339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</a:rPr>
              <a:t>Blockchain &amp; Cybersecurity,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-113862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198120" y="0"/>
            <a:ext cx="10972800" cy="93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Google Shape;104;p2" descr="Your startup LOGO"/>
          <p:cNvSpPr/>
          <p:nvPr/>
        </p:nvSpPr>
        <p:spPr>
          <a:xfrm>
            <a:off x="329565" y="252095"/>
            <a:ext cx="2081530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BYTE BLASTERS</a:t>
            </a:r>
          </a:p>
        </p:txBody>
      </p:sp>
      <p:sp>
        <p:nvSpPr>
          <p:cNvPr id="105" name="Google Shape;105;p2"/>
          <p:cNvSpPr txBox="1"/>
          <p:nvPr/>
        </p:nvSpPr>
        <p:spPr>
          <a:xfrm>
            <a:off x="546100" y="1713997"/>
            <a:ext cx="5427848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IDEA / SOLUTION : </a:t>
            </a: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r>
              <a:rPr lang="en-US" sz="1800" b="1" dirty="0">
                <a:ea typeface="Calibri"/>
                <a:sym typeface="Calibri"/>
              </a:rPr>
              <a:t>Idea Title:</a:t>
            </a:r>
            <a:r>
              <a:rPr lang="en-US" sz="1800" dirty="0">
                <a:ea typeface="Calibri"/>
                <a:sym typeface="Calibri"/>
              </a:rPr>
              <a:t> </a:t>
            </a:r>
            <a:r>
              <a:rPr lang="en-US" sz="1800" i="1" dirty="0" err="1">
                <a:ea typeface="Calibri"/>
                <a:sym typeface="Calibri"/>
              </a:rPr>
              <a:t>HerbTraceChain</a:t>
            </a:r>
            <a:endParaRPr lang="en-US" sz="1800" i="1">
              <a:ea typeface="Calibri"/>
            </a:endParaRPr>
          </a:p>
          <a:p>
            <a:endParaRPr lang="en-US" sz="1800" i="1" dirty="0">
              <a:ea typeface="Calibri"/>
            </a:endParaRPr>
          </a:p>
          <a:p>
            <a:pPr>
              <a:buChar char="•"/>
            </a:pPr>
            <a:r>
              <a:rPr lang="en-US" sz="1800">
                <a:ea typeface="Calibri"/>
                <a:sym typeface="Calibri"/>
              </a:rPr>
              <a:t>A blockchain-powered traceability platform for Ayurvedic herbs.</a:t>
            </a:r>
            <a:endParaRPr/>
          </a:p>
          <a:p>
            <a:pPr>
              <a:buChar char="•"/>
            </a:pPr>
            <a:r>
              <a:rPr lang="en-US" sz="1800">
                <a:ea typeface="Calibri"/>
              </a:rPr>
              <a:t>Farmers and wild collectors log harvesting events with GPS, timestamp, and photo evidence.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>
                <a:ea typeface="Calibri"/>
                <a:sym typeface="Calibri"/>
              </a:rPr>
              <a:t>Consumers and regulators can scan the QR to see the herb’s complete history: farm origin, lab results</a:t>
            </a:r>
            <a:r>
              <a:rPr lang="en-US" sz="1800">
                <a:solidFill>
                  <a:srgbClr val="000000"/>
                </a:solidFill>
                <a:ea typeface="Calibri"/>
                <a:sym typeface="Calibri"/>
              </a:rPr>
              <a:t>,</a:t>
            </a:r>
            <a:r>
              <a:rPr lang="en-US" sz="1800">
                <a:ea typeface="Calibri"/>
                <a:sym typeface="Calibri"/>
              </a:rPr>
              <a:t> and certifications.</a:t>
            </a:r>
            <a:endParaRPr lang="en-US">
              <a:sym typeface="Calibri"/>
            </a:endParaRPr>
          </a:p>
          <a:p>
            <a:pPr>
              <a:buFont typeface="Arial"/>
              <a:buChar char="•"/>
            </a:pPr>
            <a:r>
              <a:rPr lang="en-US" sz="1800" dirty="0">
                <a:ea typeface="Calibri"/>
                <a:sym typeface="Calibri"/>
              </a:rPr>
              <a:t>Prevents counterfeit/adulterated herbs by making the entire chain transparent and tamper-proof.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 dirty="0">
                <a:ea typeface="Calibri"/>
                <a:sym typeface="Calibri"/>
              </a:rPr>
              <a:t>Empowers farmers with recognition for authenticity and boosts consumer trust in Ayurvedic formulations.</a:t>
            </a:r>
            <a:endParaRPr lang="en-US"/>
          </a:p>
          <a:p>
            <a:pPr>
              <a:buFont typeface="Arial"/>
              <a:buChar char="•"/>
            </a:pPr>
            <a:endParaRPr lang="en-US" sz="1800" dirty="0">
              <a:ea typeface="Calibri"/>
            </a:endParaRPr>
          </a:p>
          <a:p>
            <a:pPr marL="285750" indent="-285750">
              <a:buFont typeface="Arial"/>
              <a:buChar char="•"/>
            </a:pPr>
            <a:endParaRPr lang="en-US" sz="1800" dirty="0">
              <a:ea typeface="Calibri"/>
            </a:endParaRPr>
          </a:p>
          <a:p>
            <a:pPr marR="0" lvl="0" algn="l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243955" y="3891915"/>
            <a:ext cx="5513070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ea typeface="Libre Franklin Medium"/>
                <a:sym typeface="Libre Franklin Medium"/>
              </a:rPr>
              <a:t>Unique / innovative aspects</a:t>
            </a:r>
            <a:r>
              <a:rPr lang="en-US" sz="1800" dirty="0">
                <a:solidFill>
                  <a:schemeClr val="accent1"/>
                </a:solidFill>
                <a:ea typeface="Libre Franklin Medium"/>
                <a:sym typeface="Libre Franklin Medium"/>
              </a:rPr>
              <a:t>:</a:t>
            </a:r>
            <a:endParaRPr lang="en-US" dirty="0">
              <a:solidFill>
                <a:schemeClr val="accent1"/>
              </a:solidFill>
            </a:endParaRPr>
          </a:p>
          <a:p>
            <a:pPr marL="285750" lvl="0" indent="-285750" algn="l">
              <a:spcBef>
                <a:spcPts val="0"/>
              </a:spcBef>
              <a:spcAft>
                <a:spcPts val="0"/>
              </a:spcAft>
              <a:buChar char="•"/>
            </a:pPr>
            <a:endParaRPr lang="en-US" dirty="0">
              <a:solidFill>
                <a:srgbClr val="4F81BD"/>
              </a:solidFill>
              <a:ea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800" dirty="0">
                <a:ea typeface="Calibri"/>
                <a:sym typeface="Calibri"/>
              </a:rPr>
              <a:t>Permissioned blockchain </a:t>
            </a:r>
            <a:r>
              <a:rPr lang="en-US" sz="1800" dirty="0">
                <a:solidFill>
                  <a:srgbClr val="000000"/>
                </a:solidFill>
                <a:ea typeface="Calibri"/>
                <a:sym typeface="Calibri"/>
              </a:rPr>
              <a:t>for </a:t>
            </a:r>
            <a:r>
              <a:rPr lang="en-US" sz="1800" dirty="0">
                <a:ea typeface="Calibri"/>
                <a:sym typeface="Calibri"/>
              </a:rPr>
              <a:t>privacy</a:t>
            </a:r>
            <a:endParaRPr dirty="0"/>
          </a:p>
          <a:p>
            <a:pPr marL="285750" lvl="1" indent="-285750">
              <a:buFont typeface="Arial"/>
              <a:buChar char="•"/>
            </a:pPr>
            <a:r>
              <a:rPr lang="en-US" sz="1800" dirty="0">
                <a:ea typeface="Calibri"/>
                <a:sym typeface="Calibri"/>
              </a:rPr>
              <a:t>QR codes / smart labels to let consumers verify</a:t>
            </a:r>
            <a:endParaRPr dirty="0"/>
          </a:p>
          <a:p>
            <a:pPr marL="285750" lvl="1" indent="-285750">
              <a:buFont typeface="Arial"/>
              <a:buChar char="•"/>
            </a:pPr>
            <a:r>
              <a:rPr lang="en-US" sz="1800" dirty="0">
                <a:ea typeface="Calibri"/>
                <a:sym typeface="Calibri"/>
              </a:rPr>
              <a:t>Integration of lab test metadata (quality metrics)</a:t>
            </a:r>
            <a:endParaRPr dirty="0"/>
          </a:p>
          <a:p>
            <a:pPr marR="0" lvl="0" algn="l">
              <a:spcBef>
                <a:spcPts val="0"/>
              </a:spcBef>
              <a:spcAft>
                <a:spcPts val="0"/>
              </a:spcAft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243955" y="1470660"/>
            <a:ext cx="551307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ea typeface="Libre Franklin Medium"/>
                <a:sym typeface="Libre Franklin Medium"/>
              </a:rPr>
              <a:t>How it solves the problem</a:t>
            </a:r>
            <a:r>
              <a:rPr lang="en-US" sz="1800" dirty="0">
                <a:solidFill>
                  <a:schemeClr val="accent1"/>
                </a:solidFill>
                <a:ea typeface="Libre Franklin Medium"/>
                <a:sym typeface="Libre Franklin Medium"/>
              </a:rPr>
              <a:t>:</a:t>
            </a: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 </a:t>
            </a:r>
            <a:endParaRPr lang="en-US"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SzPts val="1800"/>
              <a:buFont typeface="Arial,Sans-Serif"/>
              <a:buChar char="•"/>
            </a:pPr>
            <a:r>
              <a:rPr lang="en-US" sz="1800">
                <a:ea typeface="Calibri"/>
              </a:rPr>
              <a:t>Prevents counterfeit/duplicate herbs</a:t>
            </a:r>
          </a:p>
          <a:p>
            <a:pPr marL="285750" indent="-285750">
              <a:buSzPts val="1800"/>
              <a:buFont typeface="Arial,Sans-Serif"/>
              <a:buChar char="•"/>
            </a:pPr>
            <a:r>
              <a:rPr lang="en-US" sz="1800" dirty="0">
                <a:ea typeface="Calibri"/>
              </a:rPr>
              <a:t>Ensures transparency for consumers &amp; regulators</a:t>
            </a:r>
          </a:p>
          <a:p>
            <a:pPr marL="285750" indent="-285750">
              <a:buSzPts val="1800"/>
              <a:buFont typeface="Arial,Sans-Serif"/>
              <a:buChar char="•"/>
            </a:pPr>
            <a:r>
              <a:rPr lang="en-US" sz="1800" dirty="0">
                <a:ea typeface="Calibri"/>
              </a:rPr>
              <a:t>Immutable audit trail</a:t>
            </a:r>
          </a:p>
          <a:p>
            <a:pPr marL="285750" marR="0" lvl="0" indent="-28575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endParaRPr lang="en-US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114415" y="1463040"/>
            <a:ext cx="5543550" cy="235267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114415" y="3908425"/>
            <a:ext cx="5543550" cy="217741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34975" y="1461902"/>
            <a:ext cx="5543550" cy="475772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0" name="Google Shape;120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1" name="Google Shape;121;p3" descr="Your startup LOGO"/>
          <p:cNvSpPr/>
          <p:nvPr/>
        </p:nvSpPr>
        <p:spPr>
          <a:xfrm>
            <a:off x="329565" y="252095"/>
            <a:ext cx="1929765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16910" y="1837186"/>
            <a:ext cx="4084692" cy="318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dirty="0">
                <a:solidFill>
                  <a:schemeClr val="dk1"/>
                </a:solidFill>
                <a:ea typeface="Calibri"/>
              </a:rPr>
              <a:t>• Blockchain Platform: Hyperledger Fabric/Corda</a:t>
            </a:r>
          </a:p>
          <a:p>
            <a:br>
              <a:rPr lang="en-US" sz="1600" dirty="0"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• Smart Contracts: Rule enforcement &amp; validation</a:t>
            </a:r>
          </a:p>
          <a:p>
            <a:br>
              <a:rPr lang="en-US" sz="1600" dirty="0"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• Frontend: Mobile/Web app for data entry &amp; scanning</a:t>
            </a:r>
          </a:p>
          <a:p>
            <a:br>
              <a:rPr lang="en-US" sz="1600" dirty="0"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• APIs: GPS geo-tagging, REST APIs</a:t>
            </a:r>
          </a:p>
          <a:p>
            <a:br>
              <a:rPr lang="en-US" sz="1600" dirty="0"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• Backend: Node.js/Python</a:t>
            </a:r>
            <a:endParaRPr lang="en-US" sz="1600" dirty="0">
              <a:solidFill>
                <a:schemeClr val="dk1"/>
              </a:solidFill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29872" y="1707144"/>
            <a:ext cx="4258310" cy="3452692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476240" y="1270000"/>
            <a:ext cx="2887980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PROCESS FLOW ARCHITECTURE</a:t>
            </a:r>
            <a:endParaRPr sz="16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20285" y="5497830"/>
            <a:ext cx="6887210" cy="58801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368925" y="5490210"/>
            <a:ext cx="618045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Status: 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8B168BD2-5AD5-C460-9897-AA283FC74D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293154"/>
              </p:ext>
            </p:extLst>
          </p:nvPr>
        </p:nvGraphicFramePr>
        <p:xfrm>
          <a:off x="4983655" y="1600199"/>
          <a:ext cx="6306207" cy="3570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609600" y="8128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38" name="Google Shape;138;p4" descr="Your startup LOGO"/>
          <p:cNvSpPr/>
          <p:nvPr/>
        </p:nvSpPr>
        <p:spPr>
          <a:xfrm>
            <a:off x="329773" y="243488"/>
            <a:ext cx="1558408" cy="81609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152985" y="3709061"/>
            <a:ext cx="5697921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Mitigation Strategies:</a:t>
            </a:r>
          </a:p>
          <a:p>
            <a:pPr algn="just"/>
            <a:endParaRPr lang="en-US" dirty="0"/>
          </a:p>
          <a:p>
            <a:r>
              <a:rPr lang="en-US" sz="1600" dirty="0"/>
              <a:t>• Identity verification &amp; incentive systems for accurate entries</a:t>
            </a:r>
          </a:p>
          <a:p>
            <a:br>
              <a:rPr lang="en-US" sz="1600" dirty="0"/>
            </a:br>
            <a:r>
              <a:rPr lang="en-US" sz="1600" dirty="0"/>
              <a:t>• Offline mode with sync capability when network returns</a:t>
            </a:r>
            <a:br>
              <a:rPr lang="en-US" sz="1600" dirty="0"/>
            </a:br>
            <a:endParaRPr lang="en-US" sz="1600"/>
          </a:p>
          <a:p>
            <a:r>
              <a:rPr lang="en-US" sz="1600" dirty="0"/>
              <a:t>• Simple UI, comprehensive training, subsidized onboarding</a:t>
            </a:r>
            <a:endParaRPr lang="en-US" dirty="0"/>
          </a:p>
        </p:txBody>
      </p:sp>
      <p:pic>
        <p:nvPicPr>
          <p:cNvPr id="140" name="Google Shape;1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898C17-4FF1-FA7A-B187-88EDC801384B}"/>
              </a:ext>
            </a:extLst>
          </p:cNvPr>
          <p:cNvSpPr txBox="1"/>
          <p:nvPr/>
        </p:nvSpPr>
        <p:spPr>
          <a:xfrm>
            <a:off x="1149158" y="1340753"/>
            <a:ext cx="5786713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Why it's Practical:</a:t>
            </a:r>
          </a:p>
          <a:p>
            <a:pPr algn="just"/>
            <a:endParaRPr lang="en-US" sz="1600" dirty="0"/>
          </a:p>
          <a:p>
            <a:r>
              <a:rPr lang="en-US" sz="1600" dirty="0"/>
              <a:t>• Mature blockchain technology with permissioned chains.</a:t>
            </a:r>
          </a:p>
          <a:p>
            <a:endParaRPr lang="en-US" sz="1600" dirty="0"/>
          </a:p>
          <a:p>
            <a:r>
              <a:rPr lang="en-US" sz="1600" dirty="0"/>
              <a:t>• Widespread mobile device adoption for easy entry/scanning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• Cost-effective QR/labeling implementation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50" name="Google Shape;150;p5" descr="Your startup LOGO"/>
          <p:cNvSpPr/>
          <p:nvPr/>
        </p:nvSpPr>
        <p:spPr>
          <a:xfrm>
            <a:off x="408601" y="234729"/>
            <a:ext cx="1663511" cy="851126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784772" y="2060687"/>
            <a:ext cx="4041230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800"/>
            </a:pPr>
            <a:r>
              <a:rPr lang="en-US" sz="2000" dirty="0"/>
              <a:t>Target  Beneficiaries:</a:t>
            </a:r>
            <a:endParaRPr lang="en-US" sz="1600" dirty="0">
              <a:ea typeface="Calibri"/>
            </a:endParaRPr>
          </a:p>
          <a:p>
            <a:pPr>
              <a:buSzPts val="2800"/>
            </a:pPr>
            <a:endParaRPr lang="en-US" sz="2000" dirty="0">
              <a:solidFill>
                <a:schemeClr val="dk1"/>
              </a:solidFill>
              <a:ea typeface="Calibri"/>
            </a:endParaRPr>
          </a:p>
          <a:p>
            <a:pPr>
              <a:buSzPts val="2800"/>
            </a:pPr>
            <a:r>
              <a:rPr lang="en-US" sz="1600" dirty="0">
                <a:solidFill>
                  <a:schemeClr val="dk1"/>
                </a:solidFill>
                <a:ea typeface="Calibri"/>
              </a:rPr>
              <a:t>•</a:t>
            </a:r>
            <a: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  <a:t> Farmers &amp; herb collectors</a:t>
            </a:r>
          </a:p>
          <a:p>
            <a:pPr>
              <a:buSzPts val="2800"/>
            </a:pPr>
            <a: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  <a:t>• Herbal product companies</a:t>
            </a:r>
            <a:br>
              <a:rPr lang="en-US" sz="1600" dirty="0"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  <a:t>• Regulatory authorities</a:t>
            </a:r>
            <a:br>
              <a:rPr lang="en-US" sz="1600" dirty="0"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  <a:t>• End consumers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2825A8-DE03-7765-5DF4-FE7AC8AA5BF6}"/>
              </a:ext>
            </a:extLst>
          </p:cNvPr>
          <p:cNvSpPr txBox="1"/>
          <p:nvPr/>
        </p:nvSpPr>
        <p:spPr>
          <a:xfrm>
            <a:off x="6092990" y="2226469"/>
            <a:ext cx="5960788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Key Benefits:</a:t>
            </a:r>
            <a:endParaRPr lang="en-US"/>
          </a:p>
          <a:p>
            <a:pPr algn="ctr"/>
            <a:endParaRPr lang="en-US" sz="1800" b="1" dirty="0"/>
          </a:p>
          <a:p>
            <a:r>
              <a:rPr lang="en-US" sz="1600" dirty="0"/>
              <a:t>• Reduces counterfeit &amp; adulterated herbal products</a:t>
            </a:r>
            <a:br>
              <a:rPr lang="en-US" sz="1600" dirty="0"/>
            </a:br>
            <a:r>
              <a:rPr lang="en-US" sz="1600" dirty="0"/>
              <a:t>• Increases trust &amp; accountability in supply chain</a:t>
            </a:r>
            <a:br>
              <a:rPr lang="en-US" sz="1600" dirty="0"/>
            </a:br>
            <a:r>
              <a:rPr lang="en-US" sz="1600" dirty="0"/>
              <a:t>• Opens premium markets for verified suppliers</a:t>
            </a:r>
            <a:br>
              <a:rPr lang="en-US" sz="1600" dirty="0"/>
            </a:br>
            <a:r>
              <a:rPr lang="en-US" sz="1600" dirty="0"/>
              <a:t>• Enables environmental &amp; sustainable harvesting tracking</a:t>
            </a: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10F04-8415-B7C5-DDF7-F60FD7C6E3A1}"/>
              </a:ext>
            </a:extLst>
          </p:cNvPr>
          <p:cNvSpPr txBox="1"/>
          <p:nvPr/>
        </p:nvSpPr>
        <p:spPr>
          <a:xfrm>
            <a:off x="2256716" y="4593349"/>
            <a:ext cx="6480828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Future Scalability:</a:t>
            </a:r>
          </a:p>
          <a:p>
            <a:endParaRPr lang="en-US" sz="1800" b="1" dirty="0"/>
          </a:p>
          <a:p>
            <a:r>
              <a:rPr lang="en-US" sz="1600" dirty="0"/>
              <a:t>• Expand to other medicinal plants across India</a:t>
            </a:r>
            <a:br>
              <a:rPr lang="en-US" sz="1600" dirty="0"/>
            </a:br>
            <a:r>
              <a:rPr lang="en-US" sz="1600" dirty="0"/>
              <a:t>• Add predictive analytics for quality trends &amp; risk alerts</a:t>
            </a:r>
            <a:br>
              <a:rPr lang="en-US" sz="1600" dirty="0"/>
            </a:br>
            <a:r>
              <a:rPr lang="en-US" sz="1600" dirty="0"/>
              <a:t>• Integration with national herbal databases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1406634" y="2374849"/>
            <a:ext cx="9420334" cy="478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dirty="0"/>
              <a:t>Key Research Sources:</a:t>
            </a:r>
          </a:p>
          <a:p>
            <a:pPr algn="just"/>
            <a:endParaRPr lang="en-US" dirty="0"/>
          </a:p>
          <a:p>
            <a:pPr marL="171450" indent="-171450">
              <a:buChar char="•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</a:rPr>
              <a:t>HerbChain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Research:    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Blockchain for herbal traceability  PMC Article: PMC8572703</a:t>
            </a:r>
          </a:p>
          <a:p>
            <a:pPr marL="171450" indent="-171450">
              <a:buChar char="•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Char char="•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Agricultural Blockchain Traceability: 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Systematic literature review ResearchGate: Publication 373671965</a:t>
            </a:r>
          </a:p>
          <a:p>
            <a:pPr marL="171450" indent="-171450">
              <a:buChar char="•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Char char="•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SIH25027 Implementation Examples: 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Video tutorials &amp; case studies YouTube &amp; technical documentation</a:t>
            </a:r>
          </a:p>
          <a:p>
            <a:pPr marL="171450" indent="-171450">
              <a:buChar char="•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Char char="•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Regulatory Guidelines: 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 standards &amp; compliance documents AYUSH Ministry &amp; Indian Pharmacopoeia standards</a:t>
            </a:r>
          </a:p>
          <a:p>
            <a:pPr algn="just">
              <a:buSzPts val="2800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 algn="just">
              <a:buSzPts val="2800"/>
            </a:pPr>
            <a:endParaRPr lang="en-US" sz="1100" dirty="0">
              <a:solidFill>
                <a:srgbClr val="CCCCCC"/>
              </a:solidFill>
              <a:latin typeface="Consolas"/>
            </a:endParaRPr>
          </a:p>
          <a:p>
            <a:pPr algn="just">
              <a:buSzPts val="2800"/>
            </a:pPr>
            <a:endParaRPr lang="en-US" sz="1100" dirty="0">
              <a:solidFill>
                <a:srgbClr val="CCCCCC"/>
              </a:solidFill>
              <a:latin typeface="Consolas"/>
            </a:endParaRPr>
          </a:p>
          <a:p>
            <a:pPr algn="just">
              <a:buSzPts val="2800"/>
            </a:pPr>
            <a:r>
              <a:rPr lang="en-US" sz="1100" dirty="0">
                <a:solidFill>
                  <a:srgbClr val="CCCCCC"/>
                </a:solidFill>
                <a:latin typeface="Consolas"/>
              </a:rPr>
              <a:t>  </a:t>
            </a:r>
            <a:endParaRPr lang="en-US" sz="1100" i="1">
              <a:solidFill>
                <a:srgbClr val="CCCCCC"/>
              </a:solidFill>
              <a:latin typeface="Consolas"/>
            </a:endParaRPr>
          </a:p>
          <a:p>
            <a:pPr algn="just">
              <a:buSzPts val="2800"/>
            </a:pPr>
            <a:endParaRPr lang="en-US" sz="1800" dirty="0">
              <a:solidFill>
                <a:schemeClr val="tx1"/>
              </a:solidFill>
              <a:latin typeface="Consolas"/>
            </a:endParaRPr>
          </a:p>
          <a:p>
            <a:pPr algn="just">
              <a:buSzPts val="2800"/>
            </a:pPr>
            <a:br>
              <a:rPr lang="en-US" dirty="0"/>
            </a:br>
            <a:endParaRPr lang="en-US"/>
          </a:p>
          <a:p>
            <a:pPr marL="342900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lang="en-US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Google Shape;161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63" name="Google Shape;163;p6" descr="Your startup LOGO"/>
          <p:cNvSpPr/>
          <p:nvPr/>
        </p:nvSpPr>
        <p:spPr>
          <a:xfrm>
            <a:off x="207153" y="243488"/>
            <a:ext cx="1654751" cy="85112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revision>313</cp:revision>
  <dcterms:created xsi:type="dcterms:W3CDTF">2013-12-12T18:46:00Z</dcterms:created>
  <dcterms:modified xsi:type="dcterms:W3CDTF">2025-09-27T01:48:03Z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F549C18D903C4E5EBEC3E7EB818338FD_12</vt:lpwstr>
  </property>
  <property fmtid="{D5CDD505-2E9C-101B-9397-08002B2CF9AE}" pid="3" name="KSOProductBuildVer">
    <vt:lpwstr>1033-12.2.0.18165</vt:lpwstr>
  </property>
</Properties>
</file>