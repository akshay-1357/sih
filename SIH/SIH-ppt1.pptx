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search.google/teams/differential-privacy" TargetMode="External"/><Relationship Id="rId5" Type="http://schemas.openxmlformats.org/officeDocument/2006/relationships/hyperlink" Target="https://www.splunk.com/" TargetMode="External"/><Relationship Id="rId4" Type="http://schemas.openxmlformats.org/officeDocument/2006/relationships/hyperlink" Target="https://arxiv.org/abs/1812.0843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EA62B5-F0C9-C347-0569-F03FC0F51787}"/>
              </a:ext>
            </a:extLst>
          </p:cNvPr>
          <p:cNvSpPr txBox="1"/>
          <p:nvPr/>
        </p:nvSpPr>
        <p:spPr>
          <a:xfrm>
            <a:off x="443046" y="1549694"/>
            <a:ext cx="6478962" cy="3228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000" dirty="0"/>
              <a:t>25161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Statement- </a:t>
            </a:r>
            <a:r>
              <a:rPr lang="en-US" sz="2000" dirty="0"/>
              <a:t>Mitigating National Security Risks Posed by Large Language Models (LLMs) in AI-Driven Malign Information Operations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Byte Blasters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997421" y="37354"/>
            <a:ext cx="9290304" cy="1143000"/>
          </a:xfrm>
        </p:spPr>
        <p:txBody>
          <a:bodyPr/>
          <a:lstStyle/>
          <a:p>
            <a:pPr eaLnBrk="1" hangingPunct="1"/>
            <a:r>
              <a:rPr lang="en-US" sz="2800" dirty="0"/>
              <a:t>Mitigating National Security Risks Posed by Large Language Models (LLMs) in AI-Driven Malign Information Operations</a:t>
            </a:r>
            <a:endParaRPr lang="en-US" sz="1600" b="1" dirty="0">
              <a:latin typeface="Book Antiqua" panose="0204060205030503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607259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629" y="23347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Byte Blasters</a:t>
            </a:r>
            <a:endParaRPr lang="en-IN" sz="1400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19AB95-C13B-9E18-B4C5-8A804D857E12}"/>
              </a:ext>
            </a:extLst>
          </p:cNvPr>
          <p:cNvSpPr txBox="1"/>
          <p:nvPr/>
        </p:nvSpPr>
        <p:spPr>
          <a:xfrm>
            <a:off x="309557" y="2295766"/>
            <a:ext cx="6816426" cy="3265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Content:</a:t>
            </a:r>
            <a:endParaRPr lang="en-I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Detection </a:t>
            </a:r>
            <a:r>
              <a:rPr lang="en-IN" dirty="0"/>
              <a:t>-&gt;</a:t>
            </a:r>
            <a:r>
              <a:rPr lang="en-IN" b="1" dirty="0"/>
              <a:t> </a:t>
            </a:r>
            <a:r>
              <a:rPr lang="en-IN" dirty="0"/>
              <a:t>Classifiers, stylometry, multi-modal signals.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Attribution </a:t>
            </a:r>
            <a:r>
              <a:rPr lang="en-IN" dirty="0"/>
              <a:t>-&gt; Watermarking, forensic tracing.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Threat Intelligent </a:t>
            </a:r>
            <a:r>
              <a:rPr lang="en-IN" dirty="0"/>
              <a:t>-&gt; GNN-Based disinformation mapping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Intelligence Sharing </a:t>
            </a:r>
            <a:r>
              <a:rPr lang="en-IN" dirty="0"/>
              <a:t>-&gt; Federated + Blockchain-blocked protocols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Risk Assessment</a:t>
            </a:r>
            <a:r>
              <a:rPr lang="en-IN" dirty="0"/>
              <a:t> -&gt; Dashboards, heatmaps, predictive modelling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Vendor Collaboration </a:t>
            </a:r>
            <a:r>
              <a:rPr lang="en-IN" dirty="0"/>
              <a:t>-&gt; Guardrails, red-teaming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Privacy Integration </a:t>
            </a:r>
            <a:r>
              <a:rPr lang="en-IN" dirty="0"/>
              <a:t>-&gt; Federated learning, differential privacy</a:t>
            </a:r>
          </a:p>
        </p:txBody>
      </p:sp>
      <p:pic>
        <p:nvPicPr>
          <p:cNvPr id="1029" name="Picture 5" descr="Generated image">
            <a:extLst>
              <a:ext uri="{FF2B5EF4-FFF2-40B4-BE49-F238E27FC236}">
                <a16:creationId xmlns:a16="http://schemas.microsoft.com/office/drawing/2014/main" id="{1F251E5F-5A05-0706-942A-741AA5CF4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6" r="76200" b="28810"/>
          <a:stretch>
            <a:fillRect/>
          </a:stretch>
        </p:blipFill>
        <p:spPr bwMode="auto">
          <a:xfrm>
            <a:off x="8987527" y="1233694"/>
            <a:ext cx="1157457" cy="151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Generated image">
            <a:extLst>
              <a:ext uri="{FF2B5EF4-FFF2-40B4-BE49-F238E27FC236}">
                <a16:creationId xmlns:a16="http://schemas.microsoft.com/office/drawing/2014/main" id="{2BFA339E-35D3-F6B9-46F1-21C037821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718" b="70251" l="54058" r="7080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965" t="30276" r="27105" b="25307"/>
          <a:stretch>
            <a:fillRect/>
          </a:stretch>
        </p:blipFill>
        <p:spPr bwMode="auto">
          <a:xfrm>
            <a:off x="8873349" y="4195125"/>
            <a:ext cx="1494496" cy="211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Generated image">
            <a:extLst>
              <a:ext uri="{FF2B5EF4-FFF2-40B4-BE49-F238E27FC236}">
                <a16:creationId xmlns:a16="http://schemas.microsoft.com/office/drawing/2014/main" id="{697D2AAC-E243-8C1C-1179-B9DA1458B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71" t="27902" r="47610" b="31613"/>
          <a:stretch>
            <a:fillRect/>
          </a:stretch>
        </p:blipFill>
        <p:spPr bwMode="auto">
          <a:xfrm>
            <a:off x="10523715" y="2986133"/>
            <a:ext cx="1026059" cy="130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Generated image">
            <a:extLst>
              <a:ext uri="{FF2B5EF4-FFF2-40B4-BE49-F238E27FC236}">
                <a16:creationId xmlns:a16="http://schemas.microsoft.com/office/drawing/2014/main" id="{C65EA9B2-5653-D459-53CA-6D063B1215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88" t="56801" r="28845" b="29605"/>
          <a:stretch>
            <a:fillRect/>
          </a:stretch>
        </p:blipFill>
        <p:spPr bwMode="auto">
          <a:xfrm>
            <a:off x="9236750" y="5424839"/>
            <a:ext cx="908234" cy="49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Generated image">
            <a:extLst>
              <a:ext uri="{FF2B5EF4-FFF2-40B4-BE49-F238E27FC236}">
                <a16:creationId xmlns:a16="http://schemas.microsoft.com/office/drawing/2014/main" id="{37C21BBC-5C2C-4E4F-D3EB-178D6A3BE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46" t="31971" r="7180" b="25838"/>
          <a:stretch>
            <a:fillRect/>
          </a:stretch>
        </p:blipFill>
        <p:spPr bwMode="auto">
          <a:xfrm>
            <a:off x="7741670" y="2986133"/>
            <a:ext cx="950029" cy="130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c 12">
            <a:extLst>
              <a:ext uri="{FF2B5EF4-FFF2-40B4-BE49-F238E27FC236}">
                <a16:creationId xmlns:a16="http://schemas.microsoft.com/office/drawing/2014/main" id="{3B4279A3-D770-F573-DB2A-E7B27A0975D9}"/>
              </a:ext>
            </a:extLst>
          </p:cNvPr>
          <p:cNvSpPr/>
          <p:nvPr/>
        </p:nvSpPr>
        <p:spPr>
          <a:xfrm rot="9659603">
            <a:off x="8097316" y="3535292"/>
            <a:ext cx="1190319" cy="1704532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519648A-80B8-88D0-DE72-B5DAE8CA9779}"/>
              </a:ext>
            </a:extLst>
          </p:cNvPr>
          <p:cNvSpPr/>
          <p:nvPr/>
        </p:nvSpPr>
        <p:spPr>
          <a:xfrm rot="5027763">
            <a:off x="9641342" y="3944722"/>
            <a:ext cx="1166684" cy="1437564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0432E7F-7E96-9238-44D4-6C93D3A8AB7F}"/>
              </a:ext>
            </a:extLst>
          </p:cNvPr>
          <p:cNvSpPr/>
          <p:nvPr/>
        </p:nvSpPr>
        <p:spPr>
          <a:xfrm>
            <a:off x="9690867" y="2050332"/>
            <a:ext cx="1311430" cy="1515484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66A6CDB-A6BA-37E3-37EA-1889FE6395C7}"/>
              </a:ext>
            </a:extLst>
          </p:cNvPr>
          <p:cNvCxnSpPr>
            <a:endCxn id="16" idx="2"/>
          </p:cNvCxnSpPr>
          <p:nvPr/>
        </p:nvCxnSpPr>
        <p:spPr>
          <a:xfrm>
            <a:off x="10871200" y="2706231"/>
            <a:ext cx="131097" cy="1018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48ECC35-4740-F448-6176-9278363BA3FB}"/>
              </a:ext>
            </a:extLst>
          </p:cNvPr>
          <p:cNvCxnSpPr>
            <a:stCxn id="16" idx="2"/>
          </p:cNvCxnSpPr>
          <p:nvPr/>
        </p:nvCxnSpPr>
        <p:spPr>
          <a:xfrm flipV="1">
            <a:off x="11002297" y="2706231"/>
            <a:ext cx="153501" cy="1018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64C2C8-AE72-CAAF-13F3-2EA57F7D66EC}"/>
              </a:ext>
            </a:extLst>
          </p:cNvPr>
          <p:cNvCxnSpPr>
            <a:stCxn id="14" idx="2"/>
          </p:cNvCxnSpPr>
          <p:nvPr/>
        </p:nvCxnSpPr>
        <p:spPr>
          <a:xfrm flipV="1">
            <a:off x="10287725" y="5140960"/>
            <a:ext cx="80120" cy="102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92587F2-9323-223B-8AC9-32B9E0F8EF4A}"/>
              </a:ext>
            </a:extLst>
          </p:cNvPr>
          <p:cNvCxnSpPr>
            <a:stCxn id="14" idx="2"/>
          </p:cNvCxnSpPr>
          <p:nvPr/>
        </p:nvCxnSpPr>
        <p:spPr>
          <a:xfrm>
            <a:off x="10287725" y="5243430"/>
            <a:ext cx="80120" cy="77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D305175-BD23-F634-CC22-F319545D75C0}"/>
              </a:ext>
            </a:extLst>
          </p:cNvPr>
          <p:cNvCxnSpPr>
            <a:endCxn id="13" idx="2"/>
          </p:cNvCxnSpPr>
          <p:nvPr/>
        </p:nvCxnSpPr>
        <p:spPr>
          <a:xfrm flipV="1">
            <a:off x="8097520" y="4581388"/>
            <a:ext cx="32244" cy="183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0" name="Straight Connector 15359">
            <a:extLst>
              <a:ext uri="{FF2B5EF4-FFF2-40B4-BE49-F238E27FC236}">
                <a16:creationId xmlns:a16="http://schemas.microsoft.com/office/drawing/2014/main" id="{5BF0BAF4-062D-8F26-BEA2-F9FF0F765199}"/>
              </a:ext>
            </a:extLst>
          </p:cNvPr>
          <p:cNvCxnSpPr/>
          <p:nvPr/>
        </p:nvCxnSpPr>
        <p:spPr>
          <a:xfrm>
            <a:off x="8097520" y="4581388"/>
            <a:ext cx="213360" cy="183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Byte Blasters</a:t>
            </a:r>
            <a:endParaRPr lang="en-IN" sz="14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DAC79-E3FD-4828-5942-23F4120B2C5F}"/>
              </a:ext>
            </a:extLst>
          </p:cNvPr>
          <p:cNvSpPr txBox="1"/>
          <p:nvPr/>
        </p:nvSpPr>
        <p:spPr>
          <a:xfrm>
            <a:off x="329773" y="1446143"/>
            <a:ext cx="1514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solidFill>
                  <a:schemeClr val="tx2"/>
                </a:solidFill>
              </a:rPr>
              <a:t>TECH STACK: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0002A-DE05-E38E-AD5A-07B4BD202DC0}"/>
              </a:ext>
            </a:extLst>
          </p:cNvPr>
          <p:cNvSpPr txBox="1"/>
          <p:nvPr/>
        </p:nvSpPr>
        <p:spPr>
          <a:xfrm>
            <a:off x="5617753" y="1460295"/>
            <a:ext cx="2092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chemeClr val="tx2"/>
                </a:solidFill>
              </a:rPr>
              <a:t>METHODOLOGY</a:t>
            </a:r>
            <a:r>
              <a:rPr lang="en-IN" sz="1800" b="1" u="sng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1A3164-8178-F06C-DC04-00AD2BA81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73" y="1940249"/>
            <a:ext cx="528798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AI/ML Models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T5, GPT Detectors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Stylometric Tools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Entropy analysis, token probability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Forensics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Watermarking APIs, cryptographic hashing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Analytics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Graph Neural Networks (GNNs)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 Defense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SIEM platforms (Splunk, Elastic, Azure Sentinel)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Sharing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Blockchain audit trails, Federated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Federated Learning, Differential Privacy (DP)</a:t>
            </a:r>
          </a:p>
          <a:p>
            <a:pPr defTabSz="914400" eaLnBrk="0" hangingPunct="0"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Explainable AI (XAI) frameworks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0809671-FE07-0D97-B40A-1D62DEF73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753" y="1846253"/>
            <a:ext cx="602095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Classify AI vs. human content using transformers + stylometry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Forensics &amp; Attribution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Apply watermarking &amp; reverse engineering to trace source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 Intelligence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Use GNNs to map disinformation clusters &amp; propagation chains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Cross-Border Sharing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Secure collaboration via federated learning + blockchain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Assessment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Provide real-time dashboards, heatmaps &amp; predictive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Partner with LLM vendors for guardrails &amp; red-teaming simulations</a:t>
            </a:r>
          </a:p>
          <a:p>
            <a:pPr defTabSz="914400" eaLnBrk="0" hangingPunct="0"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Integrate privacy-preserving techniques &amp; XAI for accountability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Byte Blasters</a:t>
            </a:r>
            <a:endParaRPr lang="en-IN" sz="14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E85A0D-4639-37EC-C8F5-7DDFBE5DDEF9}"/>
              </a:ext>
            </a:extLst>
          </p:cNvPr>
          <p:cNvSpPr txBox="1"/>
          <p:nvPr/>
        </p:nvSpPr>
        <p:spPr>
          <a:xfrm>
            <a:off x="1152733" y="13196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sng" dirty="0">
                <a:solidFill>
                  <a:schemeClr val="tx2"/>
                </a:solidFill>
                <a:effectLst/>
                <a:latin typeface="fkGroteskNeue"/>
              </a:rPr>
              <a:t>Feasibility: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9F30C0-DE02-13CD-83DB-B81067AA63E5}"/>
              </a:ext>
            </a:extLst>
          </p:cNvPr>
          <p:cNvSpPr txBox="1"/>
          <p:nvPr/>
        </p:nvSpPr>
        <p:spPr>
          <a:xfrm>
            <a:off x="1152733" y="27334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sng" dirty="0">
                <a:solidFill>
                  <a:schemeClr val="tx2"/>
                </a:solidFill>
                <a:effectLst/>
                <a:latin typeface="fkGroteskNeue"/>
              </a:rPr>
              <a:t>Cha</a:t>
            </a:r>
            <a:r>
              <a:rPr lang="en-IN" sz="2400" b="1" u="sng" dirty="0">
                <a:solidFill>
                  <a:schemeClr val="tx2"/>
                </a:solidFill>
                <a:latin typeface="fkGroteskNeue"/>
              </a:rPr>
              <a:t>l</a:t>
            </a:r>
            <a:r>
              <a:rPr lang="en-IN" sz="2400" b="1" i="0" u="sng" dirty="0">
                <a:solidFill>
                  <a:schemeClr val="tx2"/>
                </a:solidFill>
                <a:effectLst/>
                <a:latin typeface="fkGroteskNeue"/>
              </a:rPr>
              <a:t>lenges &amp; Risks: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D88F88-2BEB-3F3C-8F98-56E960A1A912}"/>
              </a:ext>
            </a:extLst>
          </p:cNvPr>
          <p:cNvSpPr txBox="1"/>
          <p:nvPr/>
        </p:nvSpPr>
        <p:spPr>
          <a:xfrm>
            <a:off x="1200203" y="43515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sng" dirty="0">
                <a:solidFill>
                  <a:schemeClr val="tx2"/>
                </a:solidFill>
                <a:effectLst/>
                <a:latin typeface="fkGroteskNeue"/>
              </a:rPr>
              <a:t>Mitigation Strategies</a:t>
            </a:r>
            <a:r>
              <a:rPr lang="en-IN" sz="2400" b="1" u="sng" dirty="0">
                <a:solidFill>
                  <a:schemeClr val="tx2"/>
                </a:solidFill>
                <a:latin typeface="fkGroteskNeue"/>
              </a:rPr>
              <a:t>:</a:t>
            </a:r>
            <a:endParaRPr lang="en-IN" sz="2400" b="1" i="0" u="sng" dirty="0">
              <a:solidFill>
                <a:schemeClr val="tx2"/>
              </a:solidFill>
              <a:effectLst/>
              <a:latin typeface="fkGrotesk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7AADB-01C7-225B-E811-9BF1D02F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778" y="1749562"/>
            <a:ext cx="458330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Leverages existing AI &amp; cybersecurity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Compatible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SOCs &amp; SIEM systems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via federated protocols &amp; APIs</a:t>
            </a:r>
          </a:p>
          <a:p>
            <a:pPr defTabSz="914400" eaLnBrk="0" hangingPunct="0"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Extensible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multi-national collaboration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4399C0-0375-E1BE-F7F5-F5F2EB3F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778" y="3144116"/>
            <a:ext cx="5797677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Accuracy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Risk of false positives/negatives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Cross-Border Issues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Legal &amp; data localization conflicts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Adversarial Adaptation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Rapid LLM evolution to bypass filters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Intensive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High compute &amp; dataset requirements</a:t>
            </a:r>
          </a:p>
          <a:p>
            <a:pPr defTabSz="914400" eaLnBrk="0" hangingPunct="0"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Civil Liberty Concerns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Risk of surveillance overreach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88D761-FF14-80F8-537D-215E30C2E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778" y="4884918"/>
            <a:ext cx="638963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retraining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adversarial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Red-teaming simulations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expose vulnerabilities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alignment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international cooperation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Privacy-first design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Differential Privacy (DP), Federated Learning (FL)</a:t>
            </a:r>
          </a:p>
          <a:p>
            <a:pPr defTabSz="914400" eaLnBrk="0" hangingPunct="0"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(XAI)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transparency &amp; public trust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Byte Blasters</a:t>
            </a:r>
            <a:endParaRPr lang="en-IN" sz="14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CDFA15-002C-BA40-904F-DBDB25AECD5A}"/>
              </a:ext>
            </a:extLst>
          </p:cNvPr>
          <p:cNvSpPr txBox="1"/>
          <p:nvPr/>
        </p:nvSpPr>
        <p:spPr>
          <a:xfrm>
            <a:off x="812800" y="20970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National Security Agencies, Cyber Defense Teams, Policy Makers, Allied Nations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1789A-C05E-2AAD-6F73-653BFA803EBB}"/>
              </a:ext>
            </a:extLst>
          </p:cNvPr>
          <p:cNvSpPr txBox="1"/>
          <p:nvPr/>
        </p:nvSpPr>
        <p:spPr>
          <a:xfrm>
            <a:off x="518160" y="15403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sng" dirty="0">
                <a:solidFill>
                  <a:schemeClr val="tx2"/>
                </a:solidFill>
                <a:effectLst/>
                <a:latin typeface="fkGroteskNeue"/>
              </a:rPr>
              <a:t>Target Audience Impact:</a:t>
            </a:r>
            <a:endParaRPr lang="en-IN" sz="2400" b="1" u="sng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22A6C-742C-984E-0E77-E9312D91D8B4}"/>
              </a:ext>
            </a:extLst>
          </p:cNvPr>
          <p:cNvSpPr txBox="1"/>
          <p:nvPr/>
        </p:nvSpPr>
        <p:spPr>
          <a:xfrm>
            <a:off x="944879" y="3628012"/>
            <a:ext cx="42570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threat detection &amp; attribution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Coordinated international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Stronger defense against disinformation &amp; phishing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Maintains balance between </a:t>
            </a:r>
            <a:r>
              <a:rPr lang="en-US" b="1" dirty="0"/>
              <a:t>security &amp; civil liberties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89B62-41C3-1FBD-686B-71823B6B62F6}"/>
              </a:ext>
            </a:extLst>
          </p:cNvPr>
          <p:cNvSpPr txBox="1"/>
          <p:nvPr/>
        </p:nvSpPr>
        <p:spPr>
          <a:xfrm>
            <a:off x="518160" y="312354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sng" dirty="0">
                <a:solidFill>
                  <a:schemeClr val="tx2"/>
                </a:solidFill>
                <a:effectLst/>
                <a:latin typeface="fkGroteskNeue"/>
              </a:rPr>
              <a:t>Benefits: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Byte Blasters</a:t>
            </a:r>
            <a:endParaRPr lang="en-IN" sz="1400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6EFE8D-4BE7-133C-D448-8DBB3124F182}"/>
              </a:ext>
            </a:extLst>
          </p:cNvPr>
          <p:cNvSpPr txBox="1"/>
          <p:nvPr/>
        </p:nvSpPr>
        <p:spPr>
          <a:xfrm>
            <a:off x="955701" y="1582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REFERENCE LINKS:</a:t>
            </a:r>
            <a:endParaRPr lang="en-IN" u="sng" dirty="0">
              <a:solidFill>
                <a:schemeClr val="tx2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4EFDE4-89DB-72A5-7686-B06DCE406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600" y="2338194"/>
            <a:ext cx="857933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GNN for Threat Detection: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https://arxiv.org/abs/1812.08434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SIEM Integration (Splunk, Elastic):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https://www.splunk.com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Differential Privacy (Google AI):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https://research.google/teams/differential-privacy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7650</TotalTime>
  <Words>508</Words>
  <Application>Microsoft Office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Book Antiqua</vt:lpstr>
      <vt:lpstr>Calibri</vt:lpstr>
      <vt:lpstr>fkGroteskNeue</vt:lpstr>
      <vt:lpstr>Garamond</vt:lpstr>
      <vt:lpstr>Times New Roman</vt:lpstr>
      <vt:lpstr>TradeGothic</vt:lpstr>
      <vt:lpstr>Wingdings</vt:lpstr>
      <vt:lpstr>Office Theme</vt:lpstr>
      <vt:lpstr>SMART INDIA HACKATHON 2025</vt:lpstr>
      <vt:lpstr>Mitigating National Security Risks Posed by Large Language Models (LLMs) in AI-Driven Malign Information Operations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K.MARIAN DEEPAK</cp:lastModifiedBy>
  <cp:revision>150</cp:revision>
  <dcterms:created xsi:type="dcterms:W3CDTF">2013-12-12T18:46:50Z</dcterms:created>
  <dcterms:modified xsi:type="dcterms:W3CDTF">2025-09-27T01:22:57Z</dcterms:modified>
  <cp:category/>
</cp:coreProperties>
</file>