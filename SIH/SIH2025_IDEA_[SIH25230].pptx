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  <p:boldItalic r:id="rId16"/>
    </p:embeddedFont>
    <p:embeddedFont>
      <p:font typeface="Libre Franklin Medium" pitchFamily="2" charset="0"/>
      <p:regular r:id="rId17"/>
      <p:bold r:id="rId18"/>
      <p:italic r:id="rId19"/>
      <p:boldItalic r:id="rId20"/>
    </p:embeddedFont>
    <p:embeddedFont>
      <p:font typeface="Oswald" panose="00000500000000000000" pitchFamily="2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49C27-1FCB-4597-A7A0-750C3DFC114A}" v="267" dt="2025-09-27T01:39:39.336"/>
    <p1510:client id="{9027CB9D-354E-472A-806C-A720A8C9C81F}" v="979" dt="2025-09-26T17:54:1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15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customschemas.google.com/relationships/presentationmetadata" Target="metadata"/><Relationship Id="rId28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A1818-EC4F-438D-BAFA-33ADE0337E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8736A4-4819-49DC-BBA5-B959FF0EE074}">
      <dgm:prSet phldrT="[Text]" phldr="0"/>
      <dgm:spPr/>
      <dgm:t>
        <a:bodyPr/>
        <a:lstStyle/>
        <a:p>
          <a:pPr rtl="0"/>
          <a:r>
            <a:rPr lang="en-US" sz="1200" dirty="0"/>
            <a:t>1. Setup “honeypot” VNC server (for simulation)</a:t>
          </a:r>
          <a:br>
            <a:rPr lang="en-US" sz="1200" dirty="0"/>
          </a:br>
          <a:r>
            <a:rPr lang="en-US" sz="1200" dirty="0"/>
            <a:t>  </a:t>
          </a:r>
          <a:endParaRPr lang="en-US" sz="1800" dirty="0">
            <a:solidFill>
              <a:srgbClr val="000000"/>
            </a:solidFill>
            <a:latin typeface="Arial"/>
          </a:endParaRPr>
        </a:p>
      </dgm:t>
    </dgm:pt>
    <dgm:pt modelId="{0EEB4FBC-081A-4A68-9330-7CDAEFB27E45}" type="parTrans" cxnId="{D60DEA97-B015-4379-8A28-1816382F3B13}">
      <dgm:prSet/>
      <dgm:spPr/>
      <dgm:t>
        <a:bodyPr/>
        <a:lstStyle/>
        <a:p>
          <a:endParaRPr lang="en-US"/>
        </a:p>
      </dgm:t>
    </dgm:pt>
    <dgm:pt modelId="{096C34BF-3237-4DEC-B14F-288BD4D947C3}" type="sibTrans" cxnId="{D60DEA97-B015-4379-8A28-1816382F3B13}">
      <dgm:prSet/>
      <dgm:spPr/>
      <dgm:t>
        <a:bodyPr/>
        <a:lstStyle/>
        <a:p>
          <a:endParaRPr lang="en-US"/>
        </a:p>
      </dgm:t>
    </dgm:pt>
    <dgm:pt modelId="{E57D7391-6F24-427E-8D6C-D2A71FC7D82F}">
      <dgm:prSet phldr="0"/>
      <dgm:spPr/>
      <dgm:t>
        <a:bodyPr/>
        <a:lstStyle/>
        <a:p>
          <a:pPr rtl="0"/>
          <a:r>
            <a:rPr lang="en-US" sz="1200" dirty="0"/>
            <a:t>2. Generate exfiltration traffic (data uploads, screen captures, file transfers)</a:t>
          </a:r>
          <a:br>
            <a:rPr lang="en-US" sz="1200" dirty="0"/>
          </a:br>
          <a:r>
            <a:rPr lang="en-US" sz="1200" dirty="0"/>
            <a:t>  </a:t>
          </a:r>
          <a:endParaRPr lang="en-US" sz="1800" dirty="0">
            <a:latin typeface="Arial"/>
          </a:endParaRPr>
        </a:p>
      </dgm:t>
    </dgm:pt>
    <dgm:pt modelId="{AC4EE243-3A61-46A9-96E9-ED06964D0283}" type="parTrans" cxnId="{C9C7C5F6-00F5-437C-B28E-9C8E42A38B79}">
      <dgm:prSet/>
      <dgm:spPr/>
    </dgm:pt>
    <dgm:pt modelId="{64D49EDD-851E-4660-82AE-17F62CA127E0}" type="sibTrans" cxnId="{C9C7C5F6-00F5-437C-B28E-9C8E42A38B79}">
      <dgm:prSet/>
      <dgm:spPr/>
    </dgm:pt>
    <dgm:pt modelId="{92F16CB3-530B-40CE-BB95-3054F2CAEBB8}">
      <dgm:prSet phldr="0"/>
      <dgm:spPr/>
      <dgm:t>
        <a:bodyPr/>
        <a:lstStyle/>
        <a:p>
          <a:pPr rtl="0"/>
          <a:r>
            <a:rPr lang="en-US" sz="1200" dirty="0"/>
            <a:t>3. Monitor network / VNC sessions</a:t>
          </a:r>
          <a:br>
            <a:rPr lang="en-US" sz="1200" dirty="0"/>
          </a:br>
          <a:r>
            <a:rPr lang="en-US" sz="1200" dirty="0"/>
            <a:t>  </a:t>
          </a:r>
          <a:endParaRPr lang="en-US" sz="1800" dirty="0">
            <a:latin typeface="Arial"/>
          </a:endParaRPr>
        </a:p>
      </dgm:t>
    </dgm:pt>
    <dgm:pt modelId="{E7D58B61-23FC-4503-87E9-F78FE6ED209B}" type="parTrans" cxnId="{76AEB4E7-991D-4936-ADCC-2020D9B1D229}">
      <dgm:prSet/>
      <dgm:spPr/>
    </dgm:pt>
    <dgm:pt modelId="{B5E7BB32-0749-4115-9459-524950358A5C}" type="sibTrans" cxnId="{76AEB4E7-991D-4936-ADCC-2020D9B1D229}">
      <dgm:prSet/>
      <dgm:spPr/>
    </dgm:pt>
    <dgm:pt modelId="{91C3F572-2866-46C9-91F7-F5302C7D69AA}">
      <dgm:prSet phldr="0"/>
      <dgm:spPr/>
      <dgm:t>
        <a:bodyPr/>
        <a:lstStyle/>
        <a:p>
          <a:pPr rtl="0"/>
          <a:r>
            <a:rPr lang="en-US" sz="1200" dirty="0"/>
            <a:t>4. Feature extraction (session duration, packet sizes, odd patterns)</a:t>
          </a:r>
          <a:br>
            <a:rPr lang="en-US" sz="1200" dirty="0">
              <a:solidFill>
                <a:srgbClr val="000000"/>
              </a:solidFill>
            </a:rPr>
          </a:br>
          <a:r>
            <a:rPr lang="en-US" sz="1200" dirty="0"/>
            <a:t>  </a:t>
          </a:r>
          <a:endParaRPr lang="en-US" sz="1800" dirty="0">
            <a:latin typeface="Arial"/>
          </a:endParaRPr>
        </a:p>
      </dgm:t>
    </dgm:pt>
    <dgm:pt modelId="{65132998-B6A4-47D9-AA13-7459BE66264E}" type="parTrans" cxnId="{CDD874AB-4F3A-4C2F-8756-7070828DAF8E}">
      <dgm:prSet/>
      <dgm:spPr/>
    </dgm:pt>
    <dgm:pt modelId="{624228F8-D40C-45AF-9157-EC46F7E4C7FB}" type="sibTrans" cxnId="{CDD874AB-4F3A-4C2F-8756-7070828DAF8E}">
      <dgm:prSet/>
      <dgm:spPr/>
    </dgm:pt>
    <dgm:pt modelId="{50FC0398-18EF-4C74-8152-8B45864DA5EF}">
      <dgm:prSet phldr="0"/>
      <dgm:spPr/>
      <dgm:t>
        <a:bodyPr/>
        <a:lstStyle/>
        <a:p>
          <a:pPr rtl="0"/>
          <a:r>
            <a:rPr lang="en-US" sz="1200" dirty="0"/>
            <a:t>5. Use model / rules to detect anomalies</a:t>
          </a:r>
          <a:br>
            <a:rPr lang="en-US" sz="1200" dirty="0"/>
          </a:br>
          <a:r>
            <a:rPr lang="en-US" sz="1200" dirty="0"/>
            <a:t>  </a:t>
          </a:r>
          <a:endParaRPr lang="en-US" sz="1800" dirty="0">
            <a:latin typeface="Arial"/>
          </a:endParaRPr>
        </a:p>
      </dgm:t>
    </dgm:pt>
    <dgm:pt modelId="{4AE29575-892D-4087-A478-19496FB3BF3B}" type="parTrans" cxnId="{6815A7DF-BAAC-4570-AB11-FDDEF4716404}">
      <dgm:prSet/>
      <dgm:spPr/>
    </dgm:pt>
    <dgm:pt modelId="{B6B90341-AC66-45F2-AEFF-D641D3779374}" type="sibTrans" cxnId="{6815A7DF-BAAC-4570-AB11-FDDEF4716404}">
      <dgm:prSet/>
      <dgm:spPr/>
    </dgm:pt>
    <dgm:pt modelId="{171C351E-D36A-4E90-8030-E81282EA4529}">
      <dgm:prSet phldr="0"/>
      <dgm:spPr/>
      <dgm:t>
        <a:bodyPr/>
        <a:lstStyle/>
        <a:p>
          <a:pPr rtl="0"/>
          <a:r>
            <a:rPr lang="en-US" sz="1200" dirty="0"/>
            <a:t>6. Alert &amp; take action (block IP, shut session, log)</a:t>
          </a:r>
          <a:br>
            <a:rPr lang="en-US" sz="1200" dirty="0"/>
          </a:br>
          <a:r>
            <a:rPr lang="en-US" sz="1200" dirty="0"/>
            <a:t>  </a:t>
          </a:r>
          <a:endParaRPr lang="en-US" sz="1800" dirty="0">
            <a:latin typeface="Arial"/>
          </a:endParaRPr>
        </a:p>
      </dgm:t>
    </dgm:pt>
    <dgm:pt modelId="{E225E230-C464-4D41-92F2-3DFC341F55C8}" type="parTrans" cxnId="{532A5532-DF71-4E6E-BC25-3B9416146CA6}">
      <dgm:prSet/>
      <dgm:spPr/>
    </dgm:pt>
    <dgm:pt modelId="{C9D06DBE-32F8-4428-A7F9-CF3C687EE3F3}" type="sibTrans" cxnId="{532A5532-DF71-4E6E-BC25-3B9416146CA6}">
      <dgm:prSet/>
      <dgm:spPr/>
    </dgm:pt>
    <dgm:pt modelId="{AE135F76-6D1B-4869-8A99-CB05434D2D43}">
      <dgm:prSet phldr="0"/>
      <dgm:spPr/>
      <dgm:t>
        <a:bodyPr/>
        <a:lstStyle/>
        <a:p>
          <a:r>
            <a:rPr lang="en-US" sz="1200" dirty="0"/>
            <a:t>7. Report &amp; suggest defense measures</a:t>
          </a:r>
          <a:br>
            <a:rPr lang="en-US" sz="1200" dirty="0"/>
          </a:br>
          <a:r>
            <a:rPr lang="en-US" sz="1200" dirty="0"/>
            <a:t> </a:t>
          </a:r>
          <a:endParaRPr lang="en-US" dirty="0"/>
        </a:p>
      </dgm:t>
    </dgm:pt>
    <dgm:pt modelId="{4A60FFC0-EB47-4DE4-B946-BA34A1C55505}" type="parTrans" cxnId="{503AC96E-74F7-4180-808B-7F2C836DBCC8}">
      <dgm:prSet/>
      <dgm:spPr/>
    </dgm:pt>
    <dgm:pt modelId="{C3E34F41-E79E-46C9-83E0-91C7D27446AE}" type="sibTrans" cxnId="{503AC96E-74F7-4180-808B-7F2C836DBCC8}">
      <dgm:prSet/>
      <dgm:spPr/>
    </dgm:pt>
    <dgm:pt modelId="{C4D2505E-3D82-4C71-8294-45E09CA929E2}" type="pres">
      <dgm:prSet presAssocID="{A46A1818-EC4F-438D-BAFA-33ADE0337E9B}" presName="diagram" presStyleCnt="0">
        <dgm:presLayoutVars>
          <dgm:dir/>
          <dgm:resizeHandles val="exact"/>
        </dgm:presLayoutVars>
      </dgm:prSet>
      <dgm:spPr/>
    </dgm:pt>
    <dgm:pt modelId="{328AA5B8-B8B5-4AEB-9811-A3E7C8C7D82C}" type="pres">
      <dgm:prSet presAssocID="{168736A4-4819-49DC-BBA5-B959FF0EE074}" presName="node" presStyleLbl="node1" presStyleIdx="0" presStyleCnt="7">
        <dgm:presLayoutVars>
          <dgm:bulletEnabled val="1"/>
        </dgm:presLayoutVars>
      </dgm:prSet>
      <dgm:spPr/>
    </dgm:pt>
    <dgm:pt modelId="{D4E60750-01D9-40C1-8233-3E8D4677A558}" type="pres">
      <dgm:prSet presAssocID="{096C34BF-3237-4DEC-B14F-288BD4D947C3}" presName="sibTrans" presStyleCnt="0"/>
      <dgm:spPr/>
    </dgm:pt>
    <dgm:pt modelId="{702B0880-42C9-48CD-8A2E-6F88ACE21BDA}" type="pres">
      <dgm:prSet presAssocID="{E57D7391-6F24-427E-8D6C-D2A71FC7D82F}" presName="node" presStyleLbl="node1" presStyleIdx="1" presStyleCnt="7">
        <dgm:presLayoutVars>
          <dgm:bulletEnabled val="1"/>
        </dgm:presLayoutVars>
      </dgm:prSet>
      <dgm:spPr/>
    </dgm:pt>
    <dgm:pt modelId="{6BD42517-1655-4D82-AB95-FB7C9EF61857}" type="pres">
      <dgm:prSet presAssocID="{64D49EDD-851E-4660-82AE-17F62CA127E0}" presName="sibTrans" presStyleCnt="0"/>
      <dgm:spPr/>
    </dgm:pt>
    <dgm:pt modelId="{8E9DBFB8-4F6F-45CC-B212-7B187138F8B3}" type="pres">
      <dgm:prSet presAssocID="{92F16CB3-530B-40CE-BB95-3054F2CAEBB8}" presName="node" presStyleLbl="node1" presStyleIdx="2" presStyleCnt="7">
        <dgm:presLayoutVars>
          <dgm:bulletEnabled val="1"/>
        </dgm:presLayoutVars>
      </dgm:prSet>
      <dgm:spPr/>
    </dgm:pt>
    <dgm:pt modelId="{5BAD22CE-F200-4EB6-9A06-C7F8EAF0CC5A}" type="pres">
      <dgm:prSet presAssocID="{B5E7BB32-0749-4115-9459-524950358A5C}" presName="sibTrans" presStyleCnt="0"/>
      <dgm:spPr/>
    </dgm:pt>
    <dgm:pt modelId="{8272CE2C-E505-4872-8C18-1FF733546EDA}" type="pres">
      <dgm:prSet presAssocID="{91C3F572-2866-46C9-91F7-F5302C7D69AA}" presName="node" presStyleLbl="node1" presStyleIdx="3" presStyleCnt="7">
        <dgm:presLayoutVars>
          <dgm:bulletEnabled val="1"/>
        </dgm:presLayoutVars>
      </dgm:prSet>
      <dgm:spPr/>
    </dgm:pt>
    <dgm:pt modelId="{9BA7D6DE-37E9-410E-943C-CBC515F12D66}" type="pres">
      <dgm:prSet presAssocID="{624228F8-D40C-45AF-9157-EC46F7E4C7FB}" presName="sibTrans" presStyleCnt="0"/>
      <dgm:spPr/>
    </dgm:pt>
    <dgm:pt modelId="{1D0DDE0D-E08C-411C-9182-074A7AB1CB86}" type="pres">
      <dgm:prSet presAssocID="{50FC0398-18EF-4C74-8152-8B45864DA5EF}" presName="node" presStyleLbl="node1" presStyleIdx="4" presStyleCnt="7">
        <dgm:presLayoutVars>
          <dgm:bulletEnabled val="1"/>
        </dgm:presLayoutVars>
      </dgm:prSet>
      <dgm:spPr/>
    </dgm:pt>
    <dgm:pt modelId="{CFDD7C20-2719-4A4E-9932-4D5B61D6A4D4}" type="pres">
      <dgm:prSet presAssocID="{B6B90341-AC66-45F2-AEFF-D641D3779374}" presName="sibTrans" presStyleCnt="0"/>
      <dgm:spPr/>
    </dgm:pt>
    <dgm:pt modelId="{86895066-7BCE-4F07-B0DE-6FCC40D712E0}" type="pres">
      <dgm:prSet presAssocID="{171C351E-D36A-4E90-8030-E81282EA4529}" presName="node" presStyleLbl="node1" presStyleIdx="5" presStyleCnt="7">
        <dgm:presLayoutVars>
          <dgm:bulletEnabled val="1"/>
        </dgm:presLayoutVars>
      </dgm:prSet>
      <dgm:spPr/>
    </dgm:pt>
    <dgm:pt modelId="{266FB0A2-A37A-4A11-9EA9-1462584775D5}" type="pres">
      <dgm:prSet presAssocID="{C9D06DBE-32F8-4428-A7F9-CF3C687EE3F3}" presName="sibTrans" presStyleCnt="0"/>
      <dgm:spPr/>
    </dgm:pt>
    <dgm:pt modelId="{F4BECE6B-E14C-479D-A70E-770F69626FDE}" type="pres">
      <dgm:prSet presAssocID="{AE135F76-6D1B-4869-8A99-CB05434D2D43}" presName="node" presStyleLbl="node1" presStyleIdx="6" presStyleCnt="7">
        <dgm:presLayoutVars>
          <dgm:bulletEnabled val="1"/>
        </dgm:presLayoutVars>
      </dgm:prSet>
      <dgm:spPr/>
    </dgm:pt>
  </dgm:ptLst>
  <dgm:cxnLst>
    <dgm:cxn modelId="{0ACF2C00-2029-4ECD-833E-6520262C7038}" type="presOf" srcId="{E57D7391-6F24-427E-8D6C-D2A71FC7D82F}" destId="{702B0880-42C9-48CD-8A2E-6F88ACE21BDA}" srcOrd="0" destOrd="0" presId="urn:microsoft.com/office/officeart/2005/8/layout/default"/>
    <dgm:cxn modelId="{DD9C3809-0B70-42E1-812E-5B79129CC0D5}" type="presOf" srcId="{168736A4-4819-49DC-BBA5-B959FF0EE074}" destId="{328AA5B8-B8B5-4AEB-9811-A3E7C8C7D82C}" srcOrd="0" destOrd="0" presId="urn:microsoft.com/office/officeart/2005/8/layout/default"/>
    <dgm:cxn modelId="{80C24320-24A2-4EC4-9C2B-2D53EF0E54CE}" type="presOf" srcId="{91C3F572-2866-46C9-91F7-F5302C7D69AA}" destId="{8272CE2C-E505-4872-8C18-1FF733546EDA}" srcOrd="0" destOrd="0" presId="urn:microsoft.com/office/officeart/2005/8/layout/default"/>
    <dgm:cxn modelId="{C3700229-0265-47B4-9C02-9F2449263219}" type="presOf" srcId="{AE135F76-6D1B-4869-8A99-CB05434D2D43}" destId="{F4BECE6B-E14C-479D-A70E-770F69626FDE}" srcOrd="0" destOrd="0" presId="urn:microsoft.com/office/officeart/2005/8/layout/default"/>
    <dgm:cxn modelId="{532A5532-DF71-4E6E-BC25-3B9416146CA6}" srcId="{A46A1818-EC4F-438D-BAFA-33ADE0337E9B}" destId="{171C351E-D36A-4E90-8030-E81282EA4529}" srcOrd="5" destOrd="0" parTransId="{E225E230-C464-4D41-92F2-3DFC341F55C8}" sibTransId="{C9D06DBE-32F8-4428-A7F9-CF3C687EE3F3}"/>
    <dgm:cxn modelId="{C5A6586B-605F-4BE9-9E04-73B2583C2394}" type="presOf" srcId="{A46A1818-EC4F-438D-BAFA-33ADE0337E9B}" destId="{C4D2505E-3D82-4C71-8294-45E09CA929E2}" srcOrd="0" destOrd="0" presId="urn:microsoft.com/office/officeart/2005/8/layout/default"/>
    <dgm:cxn modelId="{503AC96E-74F7-4180-808B-7F2C836DBCC8}" srcId="{A46A1818-EC4F-438D-BAFA-33ADE0337E9B}" destId="{AE135F76-6D1B-4869-8A99-CB05434D2D43}" srcOrd="6" destOrd="0" parTransId="{4A60FFC0-EB47-4DE4-B946-BA34A1C55505}" sibTransId="{C3E34F41-E79E-46C9-83E0-91C7D27446AE}"/>
    <dgm:cxn modelId="{640C308C-AA0D-432C-8FDC-789DBD745B92}" type="presOf" srcId="{50FC0398-18EF-4C74-8152-8B45864DA5EF}" destId="{1D0DDE0D-E08C-411C-9182-074A7AB1CB86}" srcOrd="0" destOrd="0" presId="urn:microsoft.com/office/officeart/2005/8/layout/default"/>
    <dgm:cxn modelId="{D60DEA97-B015-4379-8A28-1816382F3B13}" srcId="{A46A1818-EC4F-438D-BAFA-33ADE0337E9B}" destId="{168736A4-4819-49DC-BBA5-B959FF0EE074}" srcOrd="0" destOrd="0" parTransId="{0EEB4FBC-081A-4A68-9330-7CDAEFB27E45}" sibTransId="{096C34BF-3237-4DEC-B14F-288BD4D947C3}"/>
    <dgm:cxn modelId="{CDD874AB-4F3A-4C2F-8756-7070828DAF8E}" srcId="{A46A1818-EC4F-438D-BAFA-33ADE0337E9B}" destId="{91C3F572-2866-46C9-91F7-F5302C7D69AA}" srcOrd="3" destOrd="0" parTransId="{65132998-B6A4-47D9-AA13-7459BE66264E}" sibTransId="{624228F8-D40C-45AF-9157-EC46F7E4C7FB}"/>
    <dgm:cxn modelId="{6815A7DF-BAAC-4570-AB11-FDDEF4716404}" srcId="{A46A1818-EC4F-438D-BAFA-33ADE0337E9B}" destId="{50FC0398-18EF-4C74-8152-8B45864DA5EF}" srcOrd="4" destOrd="0" parTransId="{4AE29575-892D-4087-A478-19496FB3BF3B}" sibTransId="{B6B90341-AC66-45F2-AEFF-D641D3779374}"/>
    <dgm:cxn modelId="{76AEB4E7-991D-4936-ADCC-2020D9B1D229}" srcId="{A46A1818-EC4F-438D-BAFA-33ADE0337E9B}" destId="{92F16CB3-530B-40CE-BB95-3054F2CAEBB8}" srcOrd="2" destOrd="0" parTransId="{E7D58B61-23FC-4503-87E9-F78FE6ED209B}" sibTransId="{B5E7BB32-0749-4115-9459-524950358A5C}"/>
    <dgm:cxn modelId="{1E67D3E7-B7C1-4368-93FC-22CA25D845B4}" type="presOf" srcId="{92F16CB3-530B-40CE-BB95-3054F2CAEBB8}" destId="{8E9DBFB8-4F6F-45CC-B212-7B187138F8B3}" srcOrd="0" destOrd="0" presId="urn:microsoft.com/office/officeart/2005/8/layout/default"/>
    <dgm:cxn modelId="{C9C7C5F6-00F5-437C-B28E-9C8E42A38B79}" srcId="{A46A1818-EC4F-438D-BAFA-33ADE0337E9B}" destId="{E57D7391-6F24-427E-8D6C-D2A71FC7D82F}" srcOrd="1" destOrd="0" parTransId="{AC4EE243-3A61-46A9-96E9-ED06964D0283}" sibTransId="{64D49EDD-851E-4660-82AE-17F62CA127E0}"/>
    <dgm:cxn modelId="{39F95CFC-F92C-4B58-9324-4F4DA8AC9381}" type="presOf" srcId="{171C351E-D36A-4E90-8030-E81282EA4529}" destId="{86895066-7BCE-4F07-B0DE-6FCC40D712E0}" srcOrd="0" destOrd="0" presId="urn:microsoft.com/office/officeart/2005/8/layout/default"/>
    <dgm:cxn modelId="{9D6C7C17-B2C7-46FB-8712-0E53EC3884E0}" type="presParOf" srcId="{C4D2505E-3D82-4C71-8294-45E09CA929E2}" destId="{328AA5B8-B8B5-4AEB-9811-A3E7C8C7D82C}" srcOrd="0" destOrd="0" presId="urn:microsoft.com/office/officeart/2005/8/layout/default"/>
    <dgm:cxn modelId="{15429170-268F-4566-A03A-ED550835ACC6}" type="presParOf" srcId="{C4D2505E-3D82-4C71-8294-45E09CA929E2}" destId="{D4E60750-01D9-40C1-8233-3E8D4677A558}" srcOrd="1" destOrd="0" presId="urn:microsoft.com/office/officeart/2005/8/layout/default"/>
    <dgm:cxn modelId="{DE183FCD-F016-4D41-8209-BF0102B209FC}" type="presParOf" srcId="{C4D2505E-3D82-4C71-8294-45E09CA929E2}" destId="{702B0880-42C9-48CD-8A2E-6F88ACE21BDA}" srcOrd="2" destOrd="0" presId="urn:microsoft.com/office/officeart/2005/8/layout/default"/>
    <dgm:cxn modelId="{3C3DC5F7-84B4-434A-9BA1-E3A8375F3B48}" type="presParOf" srcId="{C4D2505E-3D82-4C71-8294-45E09CA929E2}" destId="{6BD42517-1655-4D82-AB95-FB7C9EF61857}" srcOrd="3" destOrd="0" presId="urn:microsoft.com/office/officeart/2005/8/layout/default"/>
    <dgm:cxn modelId="{6B8521A3-6E4C-4965-8747-BB3F0692BC2E}" type="presParOf" srcId="{C4D2505E-3D82-4C71-8294-45E09CA929E2}" destId="{8E9DBFB8-4F6F-45CC-B212-7B187138F8B3}" srcOrd="4" destOrd="0" presId="urn:microsoft.com/office/officeart/2005/8/layout/default"/>
    <dgm:cxn modelId="{89C6E803-0C9F-4B26-81D6-688FF0E3323A}" type="presParOf" srcId="{C4D2505E-3D82-4C71-8294-45E09CA929E2}" destId="{5BAD22CE-F200-4EB6-9A06-C7F8EAF0CC5A}" srcOrd="5" destOrd="0" presId="urn:microsoft.com/office/officeart/2005/8/layout/default"/>
    <dgm:cxn modelId="{9023BCAB-3709-4031-89F1-C233033FE2DA}" type="presParOf" srcId="{C4D2505E-3D82-4C71-8294-45E09CA929E2}" destId="{8272CE2C-E505-4872-8C18-1FF733546EDA}" srcOrd="6" destOrd="0" presId="urn:microsoft.com/office/officeart/2005/8/layout/default"/>
    <dgm:cxn modelId="{6AA331AB-3B11-481B-83E6-604965F63A3D}" type="presParOf" srcId="{C4D2505E-3D82-4C71-8294-45E09CA929E2}" destId="{9BA7D6DE-37E9-410E-943C-CBC515F12D66}" srcOrd="7" destOrd="0" presId="urn:microsoft.com/office/officeart/2005/8/layout/default"/>
    <dgm:cxn modelId="{5DCCE71B-9E97-4361-99A4-3F50EDDEE8E1}" type="presParOf" srcId="{C4D2505E-3D82-4C71-8294-45E09CA929E2}" destId="{1D0DDE0D-E08C-411C-9182-074A7AB1CB86}" srcOrd="8" destOrd="0" presId="urn:microsoft.com/office/officeart/2005/8/layout/default"/>
    <dgm:cxn modelId="{2219EC02-22D1-4A65-9E3A-3D8AD5040D5D}" type="presParOf" srcId="{C4D2505E-3D82-4C71-8294-45E09CA929E2}" destId="{CFDD7C20-2719-4A4E-9932-4D5B61D6A4D4}" srcOrd="9" destOrd="0" presId="urn:microsoft.com/office/officeart/2005/8/layout/default"/>
    <dgm:cxn modelId="{1A68B3C9-1309-44F1-9E8B-D870F64BB949}" type="presParOf" srcId="{C4D2505E-3D82-4C71-8294-45E09CA929E2}" destId="{86895066-7BCE-4F07-B0DE-6FCC40D712E0}" srcOrd="10" destOrd="0" presId="urn:microsoft.com/office/officeart/2005/8/layout/default"/>
    <dgm:cxn modelId="{E3BB9C8B-5E0D-40B7-B8E0-944F814FAE55}" type="presParOf" srcId="{C4D2505E-3D82-4C71-8294-45E09CA929E2}" destId="{266FB0A2-A37A-4A11-9EA9-1462584775D5}" srcOrd="11" destOrd="0" presId="urn:microsoft.com/office/officeart/2005/8/layout/default"/>
    <dgm:cxn modelId="{2087092E-DD8C-4033-932C-B2AF5AD7FDF7}" type="presParOf" srcId="{C4D2505E-3D82-4C71-8294-45E09CA929E2}" destId="{F4BECE6B-E14C-479D-A70E-770F69626FD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AA5B8-B8B5-4AEB-9811-A3E7C8C7D82C}">
      <dsp:nvSpPr>
        <dsp:cNvPr id="0" name=""/>
        <dsp:cNvSpPr/>
      </dsp:nvSpPr>
      <dsp:spPr>
        <a:xfrm>
          <a:off x="300530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1. Setup “honeypot” VNC server (for simulation)</a:t>
          </a:r>
          <a:br>
            <a:rPr lang="en-US" sz="1300" kern="1200" dirty="0"/>
          </a:br>
          <a:r>
            <a:rPr lang="en-US" sz="1300" kern="1200" dirty="0"/>
            <a:t>  </a:t>
          </a:r>
          <a:endParaRPr lang="en-US" sz="1300" kern="1200" dirty="0">
            <a:solidFill>
              <a:srgbClr val="000000"/>
            </a:solidFill>
            <a:latin typeface="Arial"/>
          </a:endParaRPr>
        </a:p>
      </dsp:txBody>
      <dsp:txXfrm>
        <a:off x="300530" y="2148"/>
        <a:ext cx="1782858" cy="1069714"/>
      </dsp:txXfrm>
    </dsp:sp>
    <dsp:sp modelId="{702B0880-42C9-48CD-8A2E-6F88ACE21BDA}">
      <dsp:nvSpPr>
        <dsp:cNvPr id="0" name=""/>
        <dsp:cNvSpPr/>
      </dsp:nvSpPr>
      <dsp:spPr>
        <a:xfrm>
          <a:off x="2261674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2. Generate exfiltration traffic (data uploads, screen captures, file transfers)</a:t>
          </a:r>
          <a:br>
            <a:rPr lang="en-US" sz="1300" kern="1200" dirty="0"/>
          </a:br>
          <a:r>
            <a:rPr lang="en-US" sz="1300" kern="1200" dirty="0"/>
            <a:t>  </a:t>
          </a:r>
          <a:endParaRPr lang="en-US" sz="1300" kern="1200" dirty="0">
            <a:latin typeface="Arial"/>
          </a:endParaRPr>
        </a:p>
      </dsp:txBody>
      <dsp:txXfrm>
        <a:off x="2261674" y="2148"/>
        <a:ext cx="1782858" cy="1069714"/>
      </dsp:txXfrm>
    </dsp:sp>
    <dsp:sp modelId="{8E9DBFB8-4F6F-45CC-B212-7B187138F8B3}">
      <dsp:nvSpPr>
        <dsp:cNvPr id="0" name=""/>
        <dsp:cNvSpPr/>
      </dsp:nvSpPr>
      <dsp:spPr>
        <a:xfrm>
          <a:off x="4222818" y="2148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3. Monitor network / VNC sessions</a:t>
          </a:r>
          <a:br>
            <a:rPr lang="en-US" sz="1300" kern="1200" dirty="0"/>
          </a:br>
          <a:r>
            <a:rPr lang="en-US" sz="1300" kern="1200" dirty="0"/>
            <a:t>  </a:t>
          </a:r>
          <a:endParaRPr lang="en-US" sz="1300" kern="1200" dirty="0">
            <a:latin typeface="Arial"/>
          </a:endParaRPr>
        </a:p>
      </dsp:txBody>
      <dsp:txXfrm>
        <a:off x="4222818" y="2148"/>
        <a:ext cx="1782858" cy="1069714"/>
      </dsp:txXfrm>
    </dsp:sp>
    <dsp:sp modelId="{8272CE2C-E505-4872-8C18-1FF733546EDA}">
      <dsp:nvSpPr>
        <dsp:cNvPr id="0" name=""/>
        <dsp:cNvSpPr/>
      </dsp:nvSpPr>
      <dsp:spPr>
        <a:xfrm>
          <a:off x="300530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4. Feature extraction (session duration, packet sizes, odd patterns)</a:t>
          </a:r>
          <a:br>
            <a:rPr lang="en-US" sz="1300" kern="1200" dirty="0">
              <a:solidFill>
                <a:srgbClr val="000000"/>
              </a:solidFill>
            </a:rPr>
          </a:br>
          <a:r>
            <a:rPr lang="en-US" sz="1300" kern="1200" dirty="0"/>
            <a:t>  </a:t>
          </a:r>
          <a:endParaRPr lang="en-US" sz="1300" kern="1200" dirty="0">
            <a:latin typeface="Arial"/>
          </a:endParaRPr>
        </a:p>
      </dsp:txBody>
      <dsp:txXfrm>
        <a:off x="300530" y="1250149"/>
        <a:ext cx="1782858" cy="1069714"/>
      </dsp:txXfrm>
    </dsp:sp>
    <dsp:sp modelId="{1D0DDE0D-E08C-411C-9182-074A7AB1CB86}">
      <dsp:nvSpPr>
        <dsp:cNvPr id="0" name=""/>
        <dsp:cNvSpPr/>
      </dsp:nvSpPr>
      <dsp:spPr>
        <a:xfrm>
          <a:off x="2261674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5. Use model / rules to detect anomalies</a:t>
          </a:r>
          <a:br>
            <a:rPr lang="en-US" sz="1300" kern="1200" dirty="0"/>
          </a:br>
          <a:r>
            <a:rPr lang="en-US" sz="1300" kern="1200" dirty="0"/>
            <a:t>  </a:t>
          </a:r>
          <a:endParaRPr lang="en-US" sz="1300" kern="1200" dirty="0">
            <a:latin typeface="Arial"/>
          </a:endParaRPr>
        </a:p>
      </dsp:txBody>
      <dsp:txXfrm>
        <a:off x="2261674" y="1250149"/>
        <a:ext cx="1782858" cy="1069714"/>
      </dsp:txXfrm>
    </dsp:sp>
    <dsp:sp modelId="{86895066-7BCE-4F07-B0DE-6FCC40D712E0}">
      <dsp:nvSpPr>
        <dsp:cNvPr id="0" name=""/>
        <dsp:cNvSpPr/>
      </dsp:nvSpPr>
      <dsp:spPr>
        <a:xfrm>
          <a:off x="4222818" y="1250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6. Alert &amp; take action (block IP, shut session, log)</a:t>
          </a:r>
          <a:br>
            <a:rPr lang="en-US" sz="1300" kern="1200" dirty="0"/>
          </a:br>
          <a:r>
            <a:rPr lang="en-US" sz="1300" kern="1200" dirty="0"/>
            <a:t>  </a:t>
          </a:r>
          <a:endParaRPr lang="en-US" sz="1300" kern="1200" dirty="0">
            <a:latin typeface="Arial"/>
          </a:endParaRPr>
        </a:p>
      </dsp:txBody>
      <dsp:txXfrm>
        <a:off x="4222818" y="1250149"/>
        <a:ext cx="1782858" cy="1069714"/>
      </dsp:txXfrm>
    </dsp:sp>
    <dsp:sp modelId="{F4BECE6B-E14C-479D-A70E-770F69626FDE}">
      <dsp:nvSpPr>
        <dsp:cNvPr id="0" name=""/>
        <dsp:cNvSpPr/>
      </dsp:nvSpPr>
      <dsp:spPr>
        <a:xfrm>
          <a:off x="2261674" y="2498149"/>
          <a:ext cx="1782858" cy="10697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7. Report &amp; suggest defense measures</a:t>
          </a:r>
          <a:br>
            <a:rPr lang="en-US" sz="1300" kern="1200" dirty="0"/>
          </a:br>
          <a:r>
            <a:rPr lang="en-US" sz="1300" kern="1200" dirty="0"/>
            <a:t> </a:t>
          </a:r>
        </a:p>
      </dsp:txBody>
      <dsp:txXfrm>
        <a:off x="2261674" y="2498149"/>
        <a:ext cx="1782858" cy="1069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164898" y="8758"/>
            <a:ext cx="10492826" cy="187434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592435" y="1210625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991994" y="207498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45686" y="1366819"/>
            <a:ext cx="8534400" cy="51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b="1" dirty="0">
                <a:solidFill>
                  <a:schemeClr val="dk1"/>
                </a:solidFill>
                <a:latin typeface="Times New Roman"/>
                <a:cs typeface="Times New Roman"/>
              </a:rPr>
              <a:t>TITLE PAGE</a:t>
            </a:r>
            <a:endParaRPr lang="en-US"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489243"/>
            <a:ext cx="10336925" cy="72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277898"/>
            <a:ext cx="760620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US" sz="1800" b="1" dirty="0">
                <a:solidFill>
                  <a:schemeClr val="dk1"/>
                </a:solidFill>
              </a:rPr>
              <a:t>- </a:t>
            </a:r>
            <a:r>
              <a:rPr lang="en-US" sz="1600" dirty="0">
                <a:solidFill>
                  <a:schemeClr val="dk1"/>
                </a:solidFill>
              </a:rPr>
              <a:t>SIH25230</a:t>
            </a:r>
            <a:endParaRPr lang="en-US" sz="1600" b="1" dirty="0">
              <a:solidFill>
                <a:schemeClr val="dk1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Problem Statement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>
                <a:solidFill>
                  <a:schemeClr val="dk1"/>
                </a:solidFill>
              </a:rPr>
              <a:t>Title </a:t>
            </a:r>
            <a:r>
              <a:rPr lang="en-US" sz="2400" b="1" dirty="0">
                <a:solidFill>
                  <a:schemeClr val="dk1"/>
                </a:solidFill>
              </a:rPr>
              <a:t>- </a:t>
            </a:r>
            <a:endParaRPr lang="en-US"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</a:rPr>
              <a:t>Theme </a:t>
            </a:r>
            <a:r>
              <a:rPr lang="en-US" sz="2400" b="1" dirty="0">
                <a:solidFill>
                  <a:schemeClr val="dk1"/>
                </a:solidFill>
              </a:rPr>
              <a:t>-</a:t>
            </a:r>
            <a:endParaRPr lang="en-US" sz="1200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</a:t>
            </a:r>
            <a:r>
              <a:rPr lang="en-US" sz="1800" b="1" dirty="0">
                <a:solidFill>
                  <a:schemeClr val="dk1"/>
                </a:solidFill>
              </a:rPr>
              <a:t>Category -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1800" b="1" dirty="0">
                <a:solidFill>
                  <a:schemeClr val="dk1"/>
                </a:solidFill>
              </a:rPr>
              <a:t>ID -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 dirty="0">
                <a:solidFill>
                  <a:schemeClr val="dk1"/>
                </a:solidFill>
              </a:rPr>
              <a:t> - </a:t>
            </a:r>
            <a:r>
              <a:rPr lang="en-US" sz="1600" dirty="0">
                <a:solidFill>
                  <a:schemeClr val="dk1"/>
                </a:solidFill>
              </a:rPr>
              <a:t>Byte blasters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2A302-505F-DD81-6EAE-B95D0A66BAB9}"/>
              </a:ext>
            </a:extLst>
          </p:cNvPr>
          <p:cNvSpPr txBox="1"/>
          <p:nvPr/>
        </p:nvSpPr>
        <p:spPr>
          <a:xfrm>
            <a:off x="1762124" y="3917156"/>
            <a:ext cx="48339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dk1"/>
                </a:solidFill>
              </a:rPr>
              <a:t>Cybersecurity / Web Solutions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7D212-3877-5177-4D97-05C877F99E3D}"/>
              </a:ext>
            </a:extLst>
          </p:cNvPr>
          <p:cNvSpPr txBox="1"/>
          <p:nvPr/>
        </p:nvSpPr>
        <p:spPr>
          <a:xfrm>
            <a:off x="3652071" y="3140513"/>
            <a:ext cx="41433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Identification &amp; Protection of VNC-based Data Exfiltration Attacks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113862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98120" y="0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329565" y="252095"/>
            <a:ext cx="2081530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</a:p>
        </p:txBody>
      </p:sp>
      <p:sp>
        <p:nvSpPr>
          <p:cNvPr id="105" name="Google Shape;105;p2"/>
          <p:cNvSpPr txBox="1"/>
          <p:nvPr/>
        </p:nvSpPr>
        <p:spPr>
          <a:xfrm>
            <a:off x="546100" y="1722755"/>
            <a:ext cx="541909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</a:rPr>
              <a:t>Idea Title: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</a:rPr>
              <a:t> </a:t>
            </a:r>
            <a:r>
              <a:rPr lang="en-US" sz="1800" i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</a:rPr>
              <a:t>VNC Guard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800" i="1" dirty="0">
              <a:solidFill>
                <a:schemeClr val="tx1">
                  <a:lumMod val="85000"/>
                  <a:lumOff val="15000"/>
                </a:schemeClr>
              </a:solidFill>
              <a:ea typeface="Calibri"/>
            </a:endParaRPr>
          </a:p>
          <a:p>
            <a:pPr marL="285750" indent="-285750"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</a:rPr>
              <a:t>A cybersecurity system designed to detect and prevent data exfiltration attacks over VNC (Virtual Network Computing).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</a:rPr>
              <a:t>Simulates real-world attack scenarios like unauthorized file transfers, screen captures, and keystroke leaks using honeypot VNC servers.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Generates detailed audit logs, reports, and defense recommendations for administrators.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Unique dual-role system: both an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attack simulator for training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 and a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real-time protection tool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 for enterprises.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sym typeface="Calibri"/>
              </a:rPr>
              <a:t>Enhances trust and compliance for organizations relying on remote access tools.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sym typeface="Calibri"/>
            </a:endParaRPr>
          </a:p>
          <a:p>
            <a:endParaRPr sz="1800" dirty="0">
              <a:solidFill>
                <a:schemeClr val="accent1"/>
              </a:solidFill>
              <a:latin typeface="Libre Franklin Medium"/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Unique / innovative aspects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endParaRPr lang="en-US" dirty="0">
              <a:solidFill>
                <a:schemeClr val="accent1"/>
              </a:solidFill>
            </a:endParaRPr>
          </a:p>
          <a:p>
            <a:pPr marL="285750" lvl="0" indent="-285750" algn="l">
              <a:spcBef>
                <a:spcPts val="0"/>
              </a:spcBef>
              <a:spcAft>
                <a:spcPts val="0"/>
              </a:spcAft>
              <a:buChar char="•"/>
            </a:pPr>
            <a:endParaRPr lang="en-US" dirty="0">
              <a:solidFill>
                <a:srgbClr val="4F81BD"/>
              </a:solidFill>
              <a:ea typeface="Calibri"/>
            </a:endParaRPr>
          </a:p>
          <a:p>
            <a:r>
              <a:rPr lang="en-US" sz="1800" dirty="0">
                <a:ea typeface="Calibri"/>
                <a:sym typeface="Calibri"/>
              </a:rPr>
              <a:t>   • Hybrid detection (ML + rule-based)</a:t>
            </a:r>
            <a:br>
              <a:rPr lang="en-US" sz="1800" dirty="0">
                <a:ea typeface="Calibri"/>
                <a:sym typeface="Calibri"/>
              </a:rPr>
            </a:br>
            <a:r>
              <a:rPr lang="en-US" sz="1800" dirty="0">
                <a:ea typeface="Calibri"/>
                <a:sym typeface="Calibri"/>
              </a:rPr>
              <a:t>  • Real-time blocking &amp; audit trails</a:t>
            </a:r>
            <a:br>
              <a:rPr lang="en-US" sz="1800" dirty="0">
                <a:ea typeface="Calibri"/>
                <a:sym typeface="Calibri"/>
              </a:rPr>
            </a:br>
            <a:r>
              <a:rPr lang="en-US" sz="1800" dirty="0">
                <a:ea typeface="Calibri"/>
                <a:sym typeface="Calibri"/>
              </a:rPr>
              <a:t>  • Integrated simulation &amp; testing module to show defense efficacy</a:t>
            </a:r>
            <a:endParaRPr dirty="0"/>
          </a:p>
          <a:p>
            <a:pPr marL="285750" marR="0" lvl="1" indent="-285750" algn="l">
              <a:spcBef>
                <a:spcPts val="0"/>
              </a:spcBef>
              <a:spcAft>
                <a:spcPts val="0"/>
              </a:spcAft>
              <a:buChar char="•"/>
            </a:pPr>
            <a:endParaRPr lang="en-US" sz="1800" dirty="0">
              <a:solidFill>
                <a:srgbClr val="000000"/>
              </a:solidFill>
              <a:ea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43955" y="1470660"/>
            <a:ext cx="551307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ea typeface="Libre Franklin Medium"/>
                <a:sym typeface="Libre Franklin Medium"/>
              </a:rPr>
              <a:t>How it solves the problem</a:t>
            </a:r>
            <a:r>
              <a:rPr lang="en-US" sz="1800" dirty="0">
                <a:solidFill>
                  <a:schemeClr val="accent1"/>
                </a:solidFill>
                <a:ea typeface="Libre Franklin Medium"/>
                <a:sym typeface="Libre Franklin Medium"/>
              </a:rPr>
              <a:t>:</a:t>
            </a: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 </a:t>
            </a:r>
            <a:endParaRPr lang="en-US"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</a:pPr>
            <a:r>
              <a:rPr lang="en-US" sz="1800" dirty="0">
                <a:ea typeface="Calibri"/>
              </a:rPr>
              <a:t>  • Simulates attack patterns and learns them</a:t>
            </a:r>
            <a:br>
              <a:rPr lang="en-US" sz="1800" dirty="0">
                <a:ea typeface="Calibri"/>
              </a:rPr>
            </a:br>
            <a:r>
              <a:rPr lang="en-US" sz="1800" dirty="0">
                <a:ea typeface="Calibri"/>
              </a:rPr>
              <a:t>  • Uses anomaly detection / signature-based detection</a:t>
            </a:r>
            <a:br>
              <a:rPr lang="en-US" sz="1800" dirty="0">
                <a:ea typeface="Calibri"/>
              </a:rPr>
            </a:br>
            <a:r>
              <a:rPr lang="en-US" sz="1800" dirty="0">
                <a:ea typeface="Calibri"/>
              </a:rPr>
              <a:t>  • Provides alerts, quarantine, defensive actions</a:t>
            </a:r>
          </a:p>
        </p:txBody>
      </p:sp>
      <p:sp>
        <p:nvSpPr>
          <p:cNvPr id="108" name="Google Shape;108;p2"/>
          <p:cNvSpPr/>
          <p:nvPr/>
        </p:nvSpPr>
        <p:spPr>
          <a:xfrm>
            <a:off x="6114415" y="1463040"/>
            <a:ext cx="5543550" cy="235267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61902"/>
            <a:ext cx="5543550" cy="47927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1" name="Google Shape;121;p3" descr="Your startup LOGO"/>
          <p:cNvSpPr/>
          <p:nvPr/>
        </p:nvSpPr>
        <p:spPr>
          <a:xfrm>
            <a:off x="329565" y="252095"/>
            <a:ext cx="1929765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16910" y="1837186"/>
            <a:ext cx="4084692" cy="318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>
                <a:solidFill>
                  <a:schemeClr val="dk1"/>
                </a:solidFill>
                <a:ea typeface="Calibri"/>
              </a:rPr>
              <a:t>Tech stack</a:t>
            </a:r>
            <a:r>
              <a:rPr lang="en-US" sz="1800" dirty="0">
                <a:solidFill>
                  <a:schemeClr val="dk1"/>
                </a:solidFill>
                <a:ea typeface="Calibri"/>
              </a:rPr>
              <a:t>:</a:t>
            </a:r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Backend server: Python / Go</a:t>
            </a:r>
            <a:endParaRPr lang="en-US" dirty="0">
              <a:solidFill>
                <a:schemeClr val="dk1"/>
              </a:solidFill>
              <a:ea typeface="Calibri"/>
            </a:endParaRP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Network monitoring library: e.g. </a:t>
            </a:r>
            <a:r>
              <a:rPr lang="en-US" sz="1600" dirty="0" err="1">
                <a:solidFill>
                  <a:schemeClr val="dk1"/>
                </a:solidFill>
                <a:ea typeface="Calibri"/>
              </a:rPr>
              <a:t>Scapy</a:t>
            </a:r>
            <a:r>
              <a:rPr lang="en-US" sz="1600" dirty="0">
                <a:solidFill>
                  <a:schemeClr val="dk1"/>
                </a:solidFill>
                <a:ea typeface="Calibri"/>
              </a:rPr>
              <a:t> , </a:t>
            </a:r>
            <a:r>
              <a:rPr lang="en-US" sz="1600" dirty="0" err="1">
                <a:solidFill>
                  <a:schemeClr val="dk1"/>
                </a:solidFill>
                <a:ea typeface="Calibri"/>
              </a:rPr>
              <a:t>libpcap</a:t>
            </a:r>
            <a:endParaRPr lang="en-US" dirty="0" err="1">
              <a:solidFill>
                <a:schemeClr val="dk1"/>
              </a:solidFill>
              <a:ea typeface="Calibri"/>
            </a:endParaRP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ML / anomaly detection: Isolation Forest, Autoencoders</a:t>
            </a:r>
            <a:endParaRPr lang="en-US">
              <a:solidFill>
                <a:schemeClr val="dk1"/>
              </a:solidFill>
              <a:ea typeface="Calibri"/>
            </a:endParaRP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Frontend / dashboard: React / Angular</a:t>
            </a:r>
            <a:endParaRPr lang="en-US" dirty="0">
              <a:solidFill>
                <a:schemeClr val="dk1"/>
              </a:solidFill>
              <a:ea typeface="Calibri"/>
            </a:endParaRPr>
          </a:p>
          <a:p>
            <a:br>
              <a:rPr lang="en-US" sz="1600" dirty="0">
                <a:solidFill>
                  <a:schemeClr val="dk1"/>
                </a:solidFill>
                <a:ea typeface="Calibri"/>
              </a:rPr>
            </a:br>
            <a:r>
              <a:rPr lang="en-US" sz="1600" dirty="0">
                <a:solidFill>
                  <a:schemeClr val="dk1"/>
                </a:solidFill>
                <a:ea typeface="Calibri"/>
              </a:rPr>
              <a:t>  • Logging &amp; audit: Elastic Stack (ELK), time series DB</a:t>
            </a:r>
            <a:endParaRPr lang="en-US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endParaRPr lang="en-US"/>
          </a:p>
          <a:p>
            <a:endParaRPr lang="en-US" sz="1600" dirty="0">
              <a:solidFill>
                <a:schemeClr val="dk1"/>
              </a:solidFill>
              <a:ea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9872" y="1838523"/>
            <a:ext cx="4258310" cy="3452692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476240" y="1270000"/>
            <a:ext cx="288798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</a:t>
            </a:r>
            <a:r>
              <a:rPr lang="en-US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6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20285" y="5497830"/>
            <a:ext cx="6887210" cy="58801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368925" y="5490210"/>
            <a:ext cx="618045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Status: </a:t>
            </a:r>
            <a:endParaRPr lang="en-US" sz="16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" name="Diagram 79">
            <a:extLst>
              <a:ext uri="{FF2B5EF4-FFF2-40B4-BE49-F238E27FC236}">
                <a16:creationId xmlns:a16="http://schemas.microsoft.com/office/drawing/2014/main" id="{8B168BD2-5AD5-C460-9897-AA283FC74D58}"/>
              </a:ext>
            </a:extLst>
          </p:cNvPr>
          <p:cNvGraphicFramePr/>
          <p:nvPr/>
        </p:nvGraphicFramePr>
        <p:xfrm>
          <a:off x="4983655" y="1600199"/>
          <a:ext cx="6306207" cy="3570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38" name="Google Shape;138;p4" descr="Your startup LOGO"/>
          <p:cNvSpPr/>
          <p:nvPr/>
        </p:nvSpPr>
        <p:spPr>
          <a:xfrm>
            <a:off x="329773" y="243488"/>
            <a:ext cx="1558408" cy="816092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152985" y="3709061"/>
            <a:ext cx="5697921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sz="1800" b="1" dirty="0"/>
              <a:t>Mitigation Strategies:</a:t>
            </a:r>
          </a:p>
          <a:p>
            <a:pPr algn="just"/>
            <a:endParaRPr lang="en-US" dirty="0"/>
          </a:p>
          <a:p>
            <a:r>
              <a:rPr lang="en-US" sz="1600" dirty="0"/>
              <a:t>  • Use hybrid detection (ML + rule-based) to reduce FPs</a:t>
            </a:r>
          </a:p>
          <a:p>
            <a:br>
              <a:rPr lang="en-US" sz="1600" dirty="0"/>
            </a:br>
            <a:r>
              <a:rPr lang="en-US" sz="1600" dirty="0"/>
              <a:t>  • Tune / retrain models based on context</a:t>
            </a:r>
            <a:endParaRPr lang="en-US" dirty="0"/>
          </a:p>
          <a:p>
            <a:br>
              <a:rPr lang="en-US" sz="1600" dirty="0"/>
            </a:br>
            <a:r>
              <a:rPr lang="en-US" sz="1600" dirty="0"/>
              <a:t>  • Sampling / selective monitoring or lightweight agents</a:t>
            </a:r>
            <a:endParaRPr lang="en-US"/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98C17-4FF1-FA7A-B187-88EDC801384B}"/>
              </a:ext>
            </a:extLst>
          </p:cNvPr>
          <p:cNvSpPr txBox="1"/>
          <p:nvPr/>
        </p:nvSpPr>
        <p:spPr>
          <a:xfrm>
            <a:off x="1149158" y="1340753"/>
            <a:ext cx="5786713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/>
              <a:t>Why it's Practical:</a:t>
            </a:r>
          </a:p>
          <a:p>
            <a:pPr algn="just"/>
            <a:endParaRPr lang="en-US" sz="1600" dirty="0"/>
          </a:p>
          <a:p>
            <a:r>
              <a:rPr lang="en-US" sz="1600" dirty="0"/>
              <a:t>   • VNC protocols are well-known; traffic features can be extracted</a:t>
            </a:r>
          </a:p>
          <a:p>
            <a:br>
              <a:rPr lang="en-US" sz="1600" dirty="0"/>
            </a:br>
            <a:r>
              <a:rPr lang="en-US" sz="1600" dirty="0"/>
              <a:t>  • ML / anomaly detection models exist and can be adapted</a:t>
            </a:r>
          </a:p>
          <a:p>
            <a:br>
              <a:rPr lang="en-US" sz="1600" dirty="0"/>
            </a:br>
            <a:r>
              <a:rPr lang="en-US" sz="1600" dirty="0"/>
              <a:t>  • Integrates with existing network / security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50" name="Google Shape;150;p5" descr="Your startup LOGO"/>
          <p:cNvSpPr/>
          <p:nvPr/>
        </p:nvSpPr>
        <p:spPr>
          <a:xfrm>
            <a:off x="408601" y="234729"/>
            <a:ext cx="1663511" cy="851126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84772" y="2060687"/>
            <a:ext cx="4041230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800"/>
            </a:pPr>
            <a:r>
              <a:rPr lang="en-US" sz="1800" b="1" dirty="0"/>
              <a:t>Target  Beneficiaries:</a:t>
            </a:r>
            <a:endParaRPr lang="en-US" sz="1800" b="1" dirty="0">
              <a:ea typeface="Calibri"/>
            </a:endParaRPr>
          </a:p>
          <a:p>
            <a:pPr>
              <a:buSzPts val="2800"/>
            </a:pPr>
            <a:endParaRPr lang="en-US" sz="2000" dirty="0">
              <a:solidFill>
                <a:schemeClr val="dk1"/>
              </a:solidFill>
              <a:ea typeface="Calibri"/>
            </a:endParaRPr>
          </a:p>
          <a:p>
            <a:r>
              <a:rPr lang="en-US" sz="1600" dirty="0">
                <a:solidFill>
                  <a:schemeClr val="dk1"/>
                </a:solidFill>
                <a:ea typeface="Calibri"/>
              </a:rPr>
              <a:t>  </a:t>
            </a:r>
            <a:r>
              <a:rPr lang="en-US" sz="1800" dirty="0">
                <a:solidFill>
                  <a:schemeClr val="dk1"/>
                </a:solidFill>
                <a:ea typeface="Calibri"/>
              </a:rPr>
              <a:t>•</a:t>
            </a:r>
            <a:r>
              <a:rPr lang="en-US" sz="1800" dirty="0">
                <a:solidFill>
                  <a:schemeClr val="dk1"/>
                </a:solidFill>
                <a:ea typeface="Calibri"/>
                <a:sym typeface="Calibri"/>
              </a:rPr>
              <a:t> Enterprises, data centers, cloud providers, IT security teams</a:t>
            </a:r>
            <a:br>
              <a:rPr lang="en-US" sz="1800" dirty="0">
                <a:ea typeface="Calibri"/>
              </a:rPr>
            </a:br>
            <a:r>
              <a:rPr lang="en-US" sz="1800" dirty="0">
                <a:solidFill>
                  <a:schemeClr val="dk1"/>
                </a:solidFill>
                <a:ea typeface="Calibri"/>
                <a:sym typeface="Calibri"/>
              </a:rPr>
              <a:t>  • Organizations using remote desktop / VNC access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2825A8-DE03-7765-5DF4-FE7AC8AA5BF6}"/>
              </a:ext>
            </a:extLst>
          </p:cNvPr>
          <p:cNvSpPr txBox="1"/>
          <p:nvPr/>
        </p:nvSpPr>
        <p:spPr>
          <a:xfrm>
            <a:off x="6092990" y="2226469"/>
            <a:ext cx="5960788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Key Benefits:</a:t>
            </a:r>
            <a:endParaRPr lang="en-US"/>
          </a:p>
          <a:p>
            <a:endParaRPr lang="en-US" sz="1800" b="1" dirty="0"/>
          </a:p>
          <a:p>
            <a:r>
              <a:rPr lang="en-US" sz="1800" dirty="0"/>
              <a:t> </a:t>
            </a:r>
            <a:r>
              <a:rPr lang="en-US" sz="1600" dirty="0"/>
              <a:t> </a:t>
            </a:r>
            <a:r>
              <a:rPr lang="en-US" sz="1800" dirty="0"/>
              <a:t> • Prevents sensitive data leaks via remote </a:t>
            </a:r>
            <a:r>
              <a:rPr lang="en-US" sz="1800" dirty="0" err="1"/>
              <a:t>sessio</a:t>
            </a:r>
            <a:endParaRPr lang="en-US" sz="1800" dirty="0"/>
          </a:p>
          <a:p>
            <a:r>
              <a:rPr lang="en-US" sz="1800" dirty="0"/>
              <a:t>   • Gives visibility into covert exfiltration</a:t>
            </a:r>
            <a:br>
              <a:rPr lang="en-US" sz="1800" dirty="0"/>
            </a:br>
            <a:r>
              <a:rPr lang="en-US" sz="1800" dirty="0"/>
              <a:t>  • Strengthens overall cybersecurity posture</a:t>
            </a:r>
            <a:br>
              <a:rPr lang="en-US" sz="1800" dirty="0"/>
            </a:br>
            <a:r>
              <a:rPr lang="en-US" sz="1800" dirty="0"/>
              <a:t>  • Helps compliance (GDPR, data protection)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10F04-8415-B7C5-DDF7-F60FD7C6E3A1}"/>
              </a:ext>
            </a:extLst>
          </p:cNvPr>
          <p:cNvSpPr txBox="1"/>
          <p:nvPr/>
        </p:nvSpPr>
        <p:spPr>
          <a:xfrm>
            <a:off x="2256716" y="4593349"/>
            <a:ext cx="6480828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Future Scalability:</a:t>
            </a:r>
          </a:p>
          <a:p>
            <a:endParaRPr lang="en-US" sz="1800" b="1" dirty="0"/>
          </a:p>
          <a:p>
            <a:r>
              <a:rPr lang="en-US" sz="1600" dirty="0"/>
              <a:t>   </a:t>
            </a:r>
            <a:r>
              <a:rPr lang="en-US" sz="1800" dirty="0"/>
              <a:t>• Extend to other remote protocols (RDP, SSH, VDI)</a:t>
            </a:r>
            <a:br>
              <a:rPr lang="en-US" sz="1800" dirty="0"/>
            </a:br>
            <a:r>
              <a:rPr lang="en-US" sz="1800" dirty="0"/>
              <a:t>  • Add a simulation &amp; training module for security teams</a:t>
            </a:r>
            <a:br>
              <a:rPr lang="en-US" sz="1800" dirty="0"/>
            </a:br>
            <a:r>
              <a:rPr lang="en-US" sz="1800" dirty="0"/>
              <a:t>  • Integrate with SIEM / SOAR tools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406634" y="2374849"/>
            <a:ext cx="9420334" cy="444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1800" b="1" dirty="0"/>
              <a:t>Key Research Sources:</a:t>
            </a:r>
          </a:p>
          <a:p>
            <a:pPr algn="just"/>
            <a:endParaRPr lang="en-US" dirty="0"/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Research papers on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exfiltration detection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remote session security</a:t>
            </a:r>
          </a:p>
          <a:p>
            <a:pPr>
              <a:buChar char="•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References on VNC security and vulnerabilities</a:t>
            </a:r>
          </a:p>
          <a:p>
            <a:pPr>
              <a:buChar char="•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 “attack simulation tools + detection systems” papers</a:t>
            </a:r>
          </a:p>
          <a:p>
            <a:pPr>
              <a:buChar char="•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Maybe sample articles / blogs on VNC exploits &amp; mitigation</a:t>
            </a: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buSzPts val="2800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100" dirty="0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r>
              <a:rPr lang="en-US" sz="1100" dirty="0">
                <a:solidFill>
                  <a:srgbClr val="CCCCCC"/>
                </a:solidFill>
                <a:latin typeface="Consolas"/>
              </a:rPr>
              <a:t>  </a:t>
            </a:r>
            <a:endParaRPr lang="en-US" sz="1100" i="1">
              <a:solidFill>
                <a:srgbClr val="CCCCCC"/>
              </a:solidFill>
              <a:latin typeface="Consolas"/>
            </a:endParaRPr>
          </a:p>
          <a:p>
            <a:pPr algn="just">
              <a:buSzPts val="2800"/>
            </a:pPr>
            <a:endParaRPr lang="en-US" sz="1800" dirty="0">
              <a:solidFill>
                <a:schemeClr val="tx1"/>
              </a:solidFill>
              <a:latin typeface="Consolas"/>
            </a:endParaRPr>
          </a:p>
          <a:p>
            <a:pPr algn="just">
              <a:buSzPts val="2800"/>
            </a:pPr>
            <a:br>
              <a:rPr lang="en-US" dirty="0"/>
            </a:br>
            <a:endParaRPr lang="en-US"/>
          </a:p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endParaRPr lang="en-US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endParaRPr lang="en-US"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63" name="Google Shape;163;p6" descr="Your startup LOGO"/>
          <p:cNvSpPr/>
          <p:nvPr/>
        </p:nvSpPr>
        <p:spPr>
          <a:xfrm>
            <a:off x="207153" y="243488"/>
            <a:ext cx="1654751" cy="85112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revision>402</cp:revision>
  <dcterms:created xsi:type="dcterms:W3CDTF">2013-12-12T18:46:00Z</dcterms:created>
  <dcterms:modified xsi:type="dcterms:W3CDTF">2025-09-27T01:39:50Z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