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Libre Franklin Medium" pitchFamily="2" charset="0"/>
      <p:regular r:id="rId17"/>
      <p:bold r:id="rId18"/>
      <p:italic r:id="rId19"/>
      <p:boldItalic r:id="rId20"/>
    </p:embeddedFont>
    <p:embeddedFont>
      <p:font typeface="Oswald" panose="00000500000000000000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196B5-2D5C-4C83-93AE-E691F4D7194E}" v="57" dt="2025-09-27T01:44:42.058"/>
    <p1510:client id="{81C152E7-716C-439C-98EE-B720E26A6739}" v="142" dt="2025-09-27T01:25:33.087"/>
    <p1510:client id="{9027CB9D-354E-472A-806C-A720A8C9C81F}" v="979" dt="2025-09-26T17:54:1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15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customschemas.google.com/relationships/presentationmetadata" Target="metadata"/><Relationship Id="rId28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A1818-EC4F-438D-BAFA-33ADE0337E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8736A4-4819-49DC-BBA5-B959FF0EE074}">
      <dgm:prSet phldrT="[Text]" phldr="0"/>
      <dgm:spPr/>
      <dgm:t>
        <a:bodyPr/>
        <a:lstStyle/>
        <a:p>
          <a:pPr rtl="0"/>
          <a:r>
            <a:rPr lang="en-US" sz="1200" dirty="0">
              <a:solidFill>
                <a:schemeClr val="tx1"/>
              </a:solidFill>
              <a:latin typeface="Arial"/>
            </a:rPr>
            <a:t> </a:t>
          </a:r>
          <a:r>
            <a:rPr lang="en-US" sz="1200" dirty="0">
              <a:solidFill>
                <a:schemeClr val="tx1"/>
              </a:solidFill>
            </a:rPr>
            <a:t>1. Asset registration (device ID, specs)</a:t>
          </a:r>
          <a:endParaRPr lang="en-US" sz="1800" dirty="0">
            <a:solidFill>
              <a:schemeClr val="tx1"/>
            </a:solidFill>
            <a:latin typeface="Arial"/>
          </a:endParaRPr>
        </a:p>
      </dgm:t>
    </dgm:pt>
    <dgm:pt modelId="{0EEB4FBC-081A-4A68-9330-7CDAEFB27E45}" type="parTrans" cxnId="{D60DEA97-B015-4379-8A28-1816382F3B13}">
      <dgm:prSet/>
      <dgm:spPr/>
      <dgm:t>
        <a:bodyPr/>
        <a:lstStyle/>
        <a:p>
          <a:endParaRPr lang="en-US"/>
        </a:p>
      </dgm:t>
    </dgm:pt>
    <dgm:pt modelId="{096C34BF-3237-4DEC-B14F-288BD4D947C3}" type="sibTrans" cxnId="{D60DEA97-B015-4379-8A28-1816382F3B13}">
      <dgm:prSet/>
      <dgm:spPr/>
      <dgm:t>
        <a:bodyPr/>
        <a:lstStyle/>
        <a:p>
          <a:endParaRPr lang="en-US"/>
        </a:p>
      </dgm:t>
    </dgm:pt>
    <dgm:pt modelId="{D99FEBBE-08C4-4FFD-9D02-795A00FAE2FF}">
      <dgm:prSet phldr="0"/>
      <dgm:spPr/>
      <dgm:t>
        <a:bodyPr/>
        <a:lstStyle/>
        <a:p>
          <a:pPr rtl="0"/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</a:t>
          </a:r>
          <a:r>
            <a:rPr lang="en-US" sz="1100" dirty="0">
              <a:solidFill>
                <a:schemeClr val="tx1"/>
              </a:solidFill>
              <a:latin typeface="Calibri"/>
              <a:ea typeface="Calibri"/>
              <a:cs typeface="Calibri"/>
            </a:rPr>
            <a:t>2. Initiate wipe request</a:t>
          </a:r>
          <a:b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</a:p>
      </dgm:t>
    </dgm:pt>
    <dgm:pt modelId="{D4DA8791-F6CB-4FC9-9BBF-72F4E92FFCE7}" type="parTrans" cxnId="{E9D2D081-FDE9-4C75-866B-60D98542022F}">
      <dgm:prSet/>
      <dgm:spPr/>
    </dgm:pt>
    <dgm:pt modelId="{7AD63CD3-5B85-438F-A46E-0EA3B876BA03}" type="sibTrans" cxnId="{E9D2D081-FDE9-4C75-866B-60D98542022F}">
      <dgm:prSet/>
      <dgm:spPr/>
    </dgm:pt>
    <dgm:pt modelId="{6BB4D5B3-11A8-436B-9E48-48DEA162E9EA}">
      <dgm:prSet phldr="0"/>
      <dgm:spPr/>
      <dgm:t>
        <a:bodyPr/>
        <a:lstStyle/>
        <a:p>
          <a:pPr rtl="0"/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 3. Wipe module performs secure erasure (adhere NIST 800-88 or equivalent)</a:t>
          </a:r>
          <a:b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800" dirty="0">
            <a:latin typeface="Arial"/>
            <a:ea typeface="Calibri"/>
            <a:cs typeface="Arial"/>
          </a:endParaRPr>
        </a:p>
      </dgm:t>
    </dgm:pt>
    <dgm:pt modelId="{D44FBEA6-AACA-47D1-8216-28179BDC3716}" type="parTrans" cxnId="{DDB401B6-F4C8-4A33-9E07-8C69F9D630E8}">
      <dgm:prSet/>
      <dgm:spPr/>
    </dgm:pt>
    <dgm:pt modelId="{70EA1F72-FCC4-42C9-9D8C-5C3F260B53EA}" type="sibTrans" cxnId="{DDB401B6-F4C8-4A33-9E07-8C69F9D630E8}">
      <dgm:prSet/>
      <dgm:spPr/>
    </dgm:pt>
    <dgm:pt modelId="{FEA78331-409A-41A5-9C08-FDB8F080BD8F}">
      <dgm:prSet phldr="0"/>
      <dgm:spPr/>
      <dgm:t>
        <a:bodyPr/>
        <a:lstStyle/>
        <a:p>
          <a:pPr rtl="0"/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4. Generate proof (hash, logs, signature)</a:t>
          </a:r>
          <a:b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800" dirty="0">
            <a:latin typeface="Arial"/>
            <a:ea typeface="Calibri"/>
            <a:cs typeface="Arial"/>
          </a:endParaRPr>
        </a:p>
      </dgm:t>
    </dgm:pt>
    <dgm:pt modelId="{CE186C35-0BA9-471F-B75D-1C00438D0565}" type="parTrans" cxnId="{6CC5A11E-1EDA-498E-A14A-E9BB72696F23}">
      <dgm:prSet/>
      <dgm:spPr/>
    </dgm:pt>
    <dgm:pt modelId="{1AB8D7DB-7D3B-4585-B576-6CAB093253D3}" type="sibTrans" cxnId="{6CC5A11E-1EDA-498E-A14A-E9BB72696F23}">
      <dgm:prSet/>
      <dgm:spPr/>
    </dgm:pt>
    <dgm:pt modelId="{4E94B8E2-E5C8-4E43-8A11-6A810C21D5CA}">
      <dgm:prSet phldr="0"/>
      <dgm:spPr/>
      <dgm:t>
        <a:bodyPr/>
        <a:lstStyle/>
        <a:p>
          <a:pPr rtl="0"/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5. Write proof to blockchain / ledger</a:t>
          </a:r>
          <a:b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endParaRPr lang="en-US" sz="1800" dirty="0">
            <a:latin typeface="Arial"/>
            <a:ea typeface="Calibri"/>
            <a:cs typeface="Arial"/>
          </a:endParaRPr>
        </a:p>
      </dgm:t>
    </dgm:pt>
    <dgm:pt modelId="{9579D900-9E07-426C-9950-5D788FD4CAAF}" type="parTrans" cxnId="{0664272E-2F33-421E-861B-4A51CE949BE8}">
      <dgm:prSet/>
      <dgm:spPr/>
    </dgm:pt>
    <dgm:pt modelId="{F892FE80-502E-4511-941B-C936A6E908C9}" type="sibTrans" cxnId="{0664272E-2F33-421E-861B-4A51CE949BE8}">
      <dgm:prSet/>
      <dgm:spPr/>
    </dgm:pt>
    <dgm:pt modelId="{8C8D2B87-F9A9-4BB6-9443-72114924E386}">
      <dgm:prSet phldr="0"/>
      <dgm:spPr/>
      <dgm:t>
        <a:bodyPr/>
        <a:lstStyle/>
        <a:p>
          <a:pPr rtl="0"/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 6. Issue certificate + QR code linking to proof</a:t>
          </a:r>
          <a:b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800" dirty="0">
            <a:latin typeface="Arial"/>
            <a:ea typeface="Calibri"/>
            <a:cs typeface="Arial"/>
          </a:endParaRPr>
        </a:p>
      </dgm:t>
    </dgm:pt>
    <dgm:pt modelId="{FE76A516-0488-4D96-AD62-AE8D97BC6442}" type="parTrans" cxnId="{AB4EA7F5-41D1-4FD1-9303-82E63D20EAB8}">
      <dgm:prSet/>
      <dgm:spPr/>
    </dgm:pt>
    <dgm:pt modelId="{996C1891-7376-447E-B900-0F740E930EF7}" type="sibTrans" cxnId="{AB4EA7F5-41D1-4FD1-9303-82E63D20EAB8}">
      <dgm:prSet/>
      <dgm:spPr/>
    </dgm:pt>
    <dgm:pt modelId="{845C327E-665F-4B17-836E-11078A5673EE}">
      <dgm:prSet phldr="0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Calibri"/>
              <a:ea typeface="Calibri"/>
              <a:cs typeface="Calibri"/>
            </a:rPr>
            <a:t>7. Recycler / buyer scans, verifies certificate</a:t>
          </a:r>
          <a:br>
            <a:rPr lang="en-US" sz="1200" dirty="0"/>
          </a:br>
          <a:r>
            <a:rPr lang="en-US" sz="1200" dirty="0"/>
            <a:t> </a:t>
          </a:r>
          <a:endParaRPr lang="en-US" dirty="0"/>
        </a:p>
      </dgm:t>
    </dgm:pt>
    <dgm:pt modelId="{E1E6EEA9-2FF1-4E2C-8400-88EBBEBACB5E}" type="parTrans" cxnId="{65F016DE-973A-4D2E-A7D5-08FA540FECF6}">
      <dgm:prSet/>
      <dgm:spPr/>
    </dgm:pt>
    <dgm:pt modelId="{A26B96A4-7C99-480D-8E19-3F403A182AB3}" type="sibTrans" cxnId="{65F016DE-973A-4D2E-A7D5-08FA540FECF6}">
      <dgm:prSet/>
      <dgm:spPr/>
    </dgm:pt>
    <dgm:pt modelId="{C4D2505E-3D82-4C71-8294-45E09CA929E2}" type="pres">
      <dgm:prSet presAssocID="{A46A1818-EC4F-438D-BAFA-33ADE0337E9B}" presName="diagram" presStyleCnt="0">
        <dgm:presLayoutVars>
          <dgm:dir/>
          <dgm:resizeHandles val="exact"/>
        </dgm:presLayoutVars>
      </dgm:prSet>
      <dgm:spPr/>
    </dgm:pt>
    <dgm:pt modelId="{328AA5B8-B8B5-4AEB-9811-A3E7C8C7D82C}" type="pres">
      <dgm:prSet presAssocID="{168736A4-4819-49DC-BBA5-B959FF0EE074}" presName="node" presStyleLbl="node1" presStyleIdx="0" presStyleCnt="7">
        <dgm:presLayoutVars>
          <dgm:bulletEnabled val="1"/>
        </dgm:presLayoutVars>
      </dgm:prSet>
      <dgm:spPr/>
    </dgm:pt>
    <dgm:pt modelId="{E5CEDFC4-6AA6-4B13-A24D-67E2F9F98681}" type="pres">
      <dgm:prSet presAssocID="{096C34BF-3237-4DEC-B14F-288BD4D947C3}" presName="sibTrans" presStyleCnt="0"/>
      <dgm:spPr/>
    </dgm:pt>
    <dgm:pt modelId="{3D361760-B985-46CF-A75A-DB7320B9CC31}" type="pres">
      <dgm:prSet presAssocID="{D99FEBBE-08C4-4FFD-9D02-795A00FAE2FF}" presName="node" presStyleLbl="node1" presStyleIdx="1" presStyleCnt="7">
        <dgm:presLayoutVars>
          <dgm:bulletEnabled val="1"/>
        </dgm:presLayoutVars>
      </dgm:prSet>
      <dgm:spPr/>
    </dgm:pt>
    <dgm:pt modelId="{CA79AD4C-1EA6-43FD-A503-384EDC5A53C1}" type="pres">
      <dgm:prSet presAssocID="{7AD63CD3-5B85-438F-A46E-0EA3B876BA03}" presName="sibTrans" presStyleCnt="0"/>
      <dgm:spPr/>
    </dgm:pt>
    <dgm:pt modelId="{0A4AC496-504A-42C0-8737-E8C3F17C2AC3}" type="pres">
      <dgm:prSet presAssocID="{6BB4D5B3-11A8-436B-9E48-48DEA162E9EA}" presName="node" presStyleLbl="node1" presStyleIdx="2" presStyleCnt="7">
        <dgm:presLayoutVars>
          <dgm:bulletEnabled val="1"/>
        </dgm:presLayoutVars>
      </dgm:prSet>
      <dgm:spPr/>
    </dgm:pt>
    <dgm:pt modelId="{F28264B0-97B9-43AB-AE76-53C33E2EE9FA}" type="pres">
      <dgm:prSet presAssocID="{70EA1F72-FCC4-42C9-9D8C-5C3F260B53EA}" presName="sibTrans" presStyleCnt="0"/>
      <dgm:spPr/>
    </dgm:pt>
    <dgm:pt modelId="{98295467-13CB-4745-8D77-2F29317E6D25}" type="pres">
      <dgm:prSet presAssocID="{FEA78331-409A-41A5-9C08-FDB8F080BD8F}" presName="node" presStyleLbl="node1" presStyleIdx="3" presStyleCnt="7">
        <dgm:presLayoutVars>
          <dgm:bulletEnabled val="1"/>
        </dgm:presLayoutVars>
      </dgm:prSet>
      <dgm:spPr/>
    </dgm:pt>
    <dgm:pt modelId="{9DCC2F34-1380-467C-8C57-E757519FBDFF}" type="pres">
      <dgm:prSet presAssocID="{1AB8D7DB-7D3B-4585-B576-6CAB093253D3}" presName="sibTrans" presStyleCnt="0"/>
      <dgm:spPr/>
    </dgm:pt>
    <dgm:pt modelId="{D1C0808B-4573-4D44-8316-9B16B21D3BB5}" type="pres">
      <dgm:prSet presAssocID="{4E94B8E2-E5C8-4E43-8A11-6A810C21D5CA}" presName="node" presStyleLbl="node1" presStyleIdx="4" presStyleCnt="7">
        <dgm:presLayoutVars>
          <dgm:bulletEnabled val="1"/>
        </dgm:presLayoutVars>
      </dgm:prSet>
      <dgm:spPr/>
    </dgm:pt>
    <dgm:pt modelId="{631A5367-827A-43C3-BC1D-5E4E29AA3DB2}" type="pres">
      <dgm:prSet presAssocID="{F892FE80-502E-4511-941B-C936A6E908C9}" presName="sibTrans" presStyleCnt="0"/>
      <dgm:spPr/>
    </dgm:pt>
    <dgm:pt modelId="{37AC9F6B-D92C-4F07-A2FF-1EB7010C9147}" type="pres">
      <dgm:prSet presAssocID="{8C8D2B87-F9A9-4BB6-9443-72114924E386}" presName="node" presStyleLbl="node1" presStyleIdx="5" presStyleCnt="7">
        <dgm:presLayoutVars>
          <dgm:bulletEnabled val="1"/>
        </dgm:presLayoutVars>
      </dgm:prSet>
      <dgm:spPr/>
    </dgm:pt>
    <dgm:pt modelId="{49D6A203-B7BD-4B66-98B3-0BCEB26F2E9B}" type="pres">
      <dgm:prSet presAssocID="{996C1891-7376-447E-B900-0F740E930EF7}" presName="sibTrans" presStyleCnt="0"/>
      <dgm:spPr/>
    </dgm:pt>
    <dgm:pt modelId="{5DF3C9B0-B4A7-4DEA-A05D-EBE8E574B9B2}" type="pres">
      <dgm:prSet presAssocID="{845C327E-665F-4B17-836E-11078A5673EE}" presName="node" presStyleLbl="node1" presStyleIdx="6" presStyleCnt="7">
        <dgm:presLayoutVars>
          <dgm:bulletEnabled val="1"/>
        </dgm:presLayoutVars>
      </dgm:prSet>
      <dgm:spPr/>
    </dgm:pt>
  </dgm:ptLst>
  <dgm:cxnLst>
    <dgm:cxn modelId="{6CC5A11E-1EDA-498E-A14A-E9BB72696F23}" srcId="{A46A1818-EC4F-438D-BAFA-33ADE0337E9B}" destId="{FEA78331-409A-41A5-9C08-FDB8F080BD8F}" srcOrd="3" destOrd="0" parTransId="{CE186C35-0BA9-471F-B75D-1C00438D0565}" sibTransId="{1AB8D7DB-7D3B-4585-B576-6CAB093253D3}"/>
    <dgm:cxn modelId="{50127728-9C76-41BC-AE22-7BA34C2624A2}" type="presOf" srcId="{D99FEBBE-08C4-4FFD-9D02-795A00FAE2FF}" destId="{3D361760-B985-46CF-A75A-DB7320B9CC31}" srcOrd="0" destOrd="0" presId="urn:microsoft.com/office/officeart/2005/8/layout/default"/>
    <dgm:cxn modelId="{0664272E-2F33-421E-861B-4A51CE949BE8}" srcId="{A46A1818-EC4F-438D-BAFA-33ADE0337E9B}" destId="{4E94B8E2-E5C8-4E43-8A11-6A810C21D5CA}" srcOrd="4" destOrd="0" parTransId="{9579D900-9E07-426C-9950-5D788FD4CAAF}" sibTransId="{F892FE80-502E-4511-941B-C936A6E908C9}"/>
    <dgm:cxn modelId="{DA289164-BF0D-444D-A0A7-65B7AB03669D}" type="presOf" srcId="{6BB4D5B3-11A8-436B-9E48-48DEA162E9EA}" destId="{0A4AC496-504A-42C0-8737-E8C3F17C2AC3}" srcOrd="0" destOrd="0" presId="urn:microsoft.com/office/officeart/2005/8/layout/default"/>
    <dgm:cxn modelId="{DE090D47-6C0D-48C2-AD21-CD2812519BFC}" type="presOf" srcId="{845C327E-665F-4B17-836E-11078A5673EE}" destId="{5DF3C9B0-B4A7-4DEA-A05D-EBE8E574B9B2}" srcOrd="0" destOrd="0" presId="urn:microsoft.com/office/officeart/2005/8/layout/default"/>
    <dgm:cxn modelId="{C5A6586B-605F-4BE9-9E04-73B2583C2394}" type="presOf" srcId="{A46A1818-EC4F-438D-BAFA-33ADE0337E9B}" destId="{C4D2505E-3D82-4C71-8294-45E09CA929E2}" srcOrd="0" destOrd="0" presId="urn:microsoft.com/office/officeart/2005/8/layout/default"/>
    <dgm:cxn modelId="{E9D2D081-FDE9-4C75-866B-60D98542022F}" srcId="{A46A1818-EC4F-438D-BAFA-33ADE0337E9B}" destId="{D99FEBBE-08C4-4FFD-9D02-795A00FAE2FF}" srcOrd="1" destOrd="0" parTransId="{D4DA8791-F6CB-4FC9-9BBF-72F4E92FFCE7}" sibTransId="{7AD63CD3-5B85-438F-A46E-0EA3B876BA03}"/>
    <dgm:cxn modelId="{3E55DC93-BAB3-4623-A97F-156B144F994F}" type="presOf" srcId="{FEA78331-409A-41A5-9C08-FDB8F080BD8F}" destId="{98295467-13CB-4745-8D77-2F29317E6D25}" srcOrd="0" destOrd="0" presId="urn:microsoft.com/office/officeart/2005/8/layout/default"/>
    <dgm:cxn modelId="{D60DEA97-B015-4379-8A28-1816382F3B13}" srcId="{A46A1818-EC4F-438D-BAFA-33ADE0337E9B}" destId="{168736A4-4819-49DC-BBA5-B959FF0EE074}" srcOrd="0" destOrd="0" parTransId="{0EEB4FBC-081A-4A68-9330-7CDAEFB27E45}" sibTransId="{096C34BF-3237-4DEC-B14F-288BD4D947C3}"/>
    <dgm:cxn modelId="{494162B3-8224-4E03-A8A4-6B8E3D61C330}" type="presOf" srcId="{4E94B8E2-E5C8-4E43-8A11-6A810C21D5CA}" destId="{D1C0808B-4573-4D44-8316-9B16B21D3BB5}" srcOrd="0" destOrd="0" presId="urn:microsoft.com/office/officeart/2005/8/layout/default"/>
    <dgm:cxn modelId="{DDB401B6-F4C8-4A33-9E07-8C69F9D630E8}" srcId="{A46A1818-EC4F-438D-BAFA-33ADE0337E9B}" destId="{6BB4D5B3-11A8-436B-9E48-48DEA162E9EA}" srcOrd="2" destOrd="0" parTransId="{D44FBEA6-AACA-47D1-8216-28179BDC3716}" sibTransId="{70EA1F72-FCC4-42C9-9D8C-5C3F260B53EA}"/>
    <dgm:cxn modelId="{0A9C20BF-2529-45F1-BE68-3E4A2F64A687}" type="presOf" srcId="{8C8D2B87-F9A9-4BB6-9443-72114924E386}" destId="{37AC9F6B-D92C-4F07-A2FF-1EB7010C9147}" srcOrd="0" destOrd="0" presId="urn:microsoft.com/office/officeart/2005/8/layout/default"/>
    <dgm:cxn modelId="{65F016DE-973A-4D2E-A7D5-08FA540FECF6}" srcId="{A46A1818-EC4F-438D-BAFA-33ADE0337E9B}" destId="{845C327E-665F-4B17-836E-11078A5673EE}" srcOrd="6" destOrd="0" parTransId="{E1E6EEA9-2FF1-4E2C-8400-88EBBEBACB5E}" sibTransId="{A26B96A4-7C99-480D-8E19-3F403A182AB3}"/>
    <dgm:cxn modelId="{9C7683E3-769C-4ECB-8235-294689D90005}" type="presOf" srcId="{168736A4-4819-49DC-BBA5-B959FF0EE074}" destId="{328AA5B8-B8B5-4AEB-9811-A3E7C8C7D82C}" srcOrd="0" destOrd="0" presId="urn:microsoft.com/office/officeart/2005/8/layout/default"/>
    <dgm:cxn modelId="{AB4EA7F5-41D1-4FD1-9303-82E63D20EAB8}" srcId="{A46A1818-EC4F-438D-BAFA-33ADE0337E9B}" destId="{8C8D2B87-F9A9-4BB6-9443-72114924E386}" srcOrd="5" destOrd="0" parTransId="{FE76A516-0488-4D96-AD62-AE8D97BC6442}" sibTransId="{996C1891-7376-447E-B900-0F740E930EF7}"/>
    <dgm:cxn modelId="{3A38BA37-BFD7-48CE-B9EA-F90926A7EA71}" type="presParOf" srcId="{C4D2505E-3D82-4C71-8294-45E09CA929E2}" destId="{328AA5B8-B8B5-4AEB-9811-A3E7C8C7D82C}" srcOrd="0" destOrd="0" presId="urn:microsoft.com/office/officeart/2005/8/layout/default"/>
    <dgm:cxn modelId="{5CF3C4BA-9BD7-45CE-8313-F9FA98E7F9CE}" type="presParOf" srcId="{C4D2505E-3D82-4C71-8294-45E09CA929E2}" destId="{E5CEDFC4-6AA6-4B13-A24D-67E2F9F98681}" srcOrd="1" destOrd="0" presId="urn:microsoft.com/office/officeart/2005/8/layout/default"/>
    <dgm:cxn modelId="{92D94A8A-3D3C-4481-ACDE-FBBD38CA80D2}" type="presParOf" srcId="{C4D2505E-3D82-4C71-8294-45E09CA929E2}" destId="{3D361760-B985-46CF-A75A-DB7320B9CC31}" srcOrd="2" destOrd="0" presId="urn:microsoft.com/office/officeart/2005/8/layout/default"/>
    <dgm:cxn modelId="{5846D397-1040-4A5A-8AD8-E44601F0DFF0}" type="presParOf" srcId="{C4D2505E-3D82-4C71-8294-45E09CA929E2}" destId="{CA79AD4C-1EA6-43FD-A503-384EDC5A53C1}" srcOrd="3" destOrd="0" presId="urn:microsoft.com/office/officeart/2005/8/layout/default"/>
    <dgm:cxn modelId="{3EDD9802-B528-40BE-9A13-F50A10794203}" type="presParOf" srcId="{C4D2505E-3D82-4C71-8294-45E09CA929E2}" destId="{0A4AC496-504A-42C0-8737-E8C3F17C2AC3}" srcOrd="4" destOrd="0" presId="urn:microsoft.com/office/officeart/2005/8/layout/default"/>
    <dgm:cxn modelId="{7D58B211-C4B7-49C1-A684-29DD86E4D39A}" type="presParOf" srcId="{C4D2505E-3D82-4C71-8294-45E09CA929E2}" destId="{F28264B0-97B9-43AB-AE76-53C33E2EE9FA}" srcOrd="5" destOrd="0" presId="urn:microsoft.com/office/officeart/2005/8/layout/default"/>
    <dgm:cxn modelId="{E8B586D5-1C86-414A-B49E-58C11E671A46}" type="presParOf" srcId="{C4D2505E-3D82-4C71-8294-45E09CA929E2}" destId="{98295467-13CB-4745-8D77-2F29317E6D25}" srcOrd="6" destOrd="0" presId="urn:microsoft.com/office/officeart/2005/8/layout/default"/>
    <dgm:cxn modelId="{BADB1A85-4718-48DF-B1D4-B75608D2C750}" type="presParOf" srcId="{C4D2505E-3D82-4C71-8294-45E09CA929E2}" destId="{9DCC2F34-1380-467C-8C57-E757519FBDFF}" srcOrd="7" destOrd="0" presId="urn:microsoft.com/office/officeart/2005/8/layout/default"/>
    <dgm:cxn modelId="{A24498F0-72B4-407D-B2E4-099E80458529}" type="presParOf" srcId="{C4D2505E-3D82-4C71-8294-45E09CA929E2}" destId="{D1C0808B-4573-4D44-8316-9B16B21D3BB5}" srcOrd="8" destOrd="0" presId="urn:microsoft.com/office/officeart/2005/8/layout/default"/>
    <dgm:cxn modelId="{F4710684-7262-4498-B2FB-BF13EB401CA1}" type="presParOf" srcId="{C4D2505E-3D82-4C71-8294-45E09CA929E2}" destId="{631A5367-827A-43C3-BC1D-5E4E29AA3DB2}" srcOrd="9" destOrd="0" presId="urn:microsoft.com/office/officeart/2005/8/layout/default"/>
    <dgm:cxn modelId="{CA5396AD-DA46-4EFC-AC77-2D6567252857}" type="presParOf" srcId="{C4D2505E-3D82-4C71-8294-45E09CA929E2}" destId="{37AC9F6B-D92C-4F07-A2FF-1EB7010C9147}" srcOrd="10" destOrd="0" presId="urn:microsoft.com/office/officeart/2005/8/layout/default"/>
    <dgm:cxn modelId="{8C80935A-27EE-496C-B9E6-503BFB6B4EEC}" type="presParOf" srcId="{C4D2505E-3D82-4C71-8294-45E09CA929E2}" destId="{49D6A203-B7BD-4B66-98B3-0BCEB26F2E9B}" srcOrd="11" destOrd="0" presId="urn:microsoft.com/office/officeart/2005/8/layout/default"/>
    <dgm:cxn modelId="{29E1E932-1B57-4A65-9844-E2D2BFF991DD}" type="presParOf" srcId="{C4D2505E-3D82-4C71-8294-45E09CA929E2}" destId="{5DF3C9B0-B4A7-4DEA-A05D-EBE8E574B9B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AA5B8-B8B5-4AEB-9811-A3E7C8C7D82C}">
      <dsp:nvSpPr>
        <dsp:cNvPr id="0" name=""/>
        <dsp:cNvSpPr/>
      </dsp:nvSpPr>
      <dsp:spPr>
        <a:xfrm>
          <a:off x="300530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  <a:latin typeface="Arial"/>
            </a:rPr>
            <a:t> </a:t>
          </a:r>
          <a:r>
            <a:rPr lang="en-US" sz="1300" kern="1200" dirty="0">
              <a:solidFill>
                <a:schemeClr val="tx1"/>
              </a:solidFill>
            </a:rPr>
            <a:t>1. Asset registration (device ID, specs)</a:t>
          </a:r>
          <a:endParaRPr lang="en-US" sz="1300" kern="1200" dirty="0">
            <a:solidFill>
              <a:schemeClr val="tx1"/>
            </a:solidFill>
            <a:latin typeface="Arial"/>
          </a:endParaRPr>
        </a:p>
      </dsp:txBody>
      <dsp:txXfrm>
        <a:off x="300530" y="2148"/>
        <a:ext cx="1782858" cy="1069714"/>
      </dsp:txXfrm>
    </dsp:sp>
    <dsp:sp modelId="{3D361760-B985-46CF-A75A-DB7320B9CC31}">
      <dsp:nvSpPr>
        <dsp:cNvPr id="0" name=""/>
        <dsp:cNvSpPr/>
      </dsp:nvSpPr>
      <dsp:spPr>
        <a:xfrm>
          <a:off x="2261674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</a:t>
          </a:r>
          <a:r>
            <a:rPr lang="en-US" sz="13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2. Initiate wipe request</a:t>
          </a:r>
          <a:b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</a:p>
      </dsp:txBody>
      <dsp:txXfrm>
        <a:off x="2261674" y="2148"/>
        <a:ext cx="1782858" cy="1069714"/>
      </dsp:txXfrm>
    </dsp:sp>
    <dsp:sp modelId="{0A4AC496-504A-42C0-8737-E8C3F17C2AC3}">
      <dsp:nvSpPr>
        <dsp:cNvPr id="0" name=""/>
        <dsp:cNvSpPr/>
      </dsp:nvSpPr>
      <dsp:spPr>
        <a:xfrm>
          <a:off x="4222818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 3. Wipe module performs secure erasure (adhere NIST 800-88 or equivalent)</a:t>
          </a:r>
          <a:b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300" kern="1200" dirty="0">
            <a:latin typeface="Arial"/>
            <a:ea typeface="Calibri"/>
            <a:cs typeface="Arial"/>
          </a:endParaRPr>
        </a:p>
      </dsp:txBody>
      <dsp:txXfrm>
        <a:off x="4222818" y="2148"/>
        <a:ext cx="1782858" cy="1069714"/>
      </dsp:txXfrm>
    </dsp:sp>
    <dsp:sp modelId="{98295467-13CB-4745-8D77-2F29317E6D25}">
      <dsp:nvSpPr>
        <dsp:cNvPr id="0" name=""/>
        <dsp:cNvSpPr/>
      </dsp:nvSpPr>
      <dsp:spPr>
        <a:xfrm>
          <a:off x="300530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4. Generate proof (hash, logs, signature)</a:t>
          </a:r>
          <a:b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300" kern="1200" dirty="0">
            <a:latin typeface="Arial"/>
            <a:ea typeface="Calibri"/>
            <a:cs typeface="Arial"/>
          </a:endParaRPr>
        </a:p>
      </dsp:txBody>
      <dsp:txXfrm>
        <a:off x="300530" y="1250149"/>
        <a:ext cx="1782858" cy="1069714"/>
      </dsp:txXfrm>
    </dsp:sp>
    <dsp:sp modelId="{D1C0808B-4573-4D44-8316-9B16B21D3BB5}">
      <dsp:nvSpPr>
        <dsp:cNvPr id="0" name=""/>
        <dsp:cNvSpPr/>
      </dsp:nvSpPr>
      <dsp:spPr>
        <a:xfrm>
          <a:off x="2261674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5. Write proof to blockchain / ledger</a:t>
          </a:r>
          <a:b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endParaRPr lang="en-US" sz="1300" kern="1200" dirty="0">
            <a:latin typeface="Arial"/>
            <a:ea typeface="Calibri"/>
            <a:cs typeface="Arial"/>
          </a:endParaRPr>
        </a:p>
      </dsp:txBody>
      <dsp:txXfrm>
        <a:off x="2261674" y="1250149"/>
        <a:ext cx="1782858" cy="1069714"/>
      </dsp:txXfrm>
    </dsp:sp>
    <dsp:sp modelId="{37AC9F6B-D92C-4F07-A2FF-1EB7010C9147}">
      <dsp:nvSpPr>
        <dsp:cNvPr id="0" name=""/>
        <dsp:cNvSpPr/>
      </dsp:nvSpPr>
      <dsp:spPr>
        <a:xfrm>
          <a:off x="4222818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 6. Issue certificate + QR code linking to proof</a:t>
          </a:r>
          <a:b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</a:b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 </a:t>
          </a:r>
          <a:endParaRPr lang="en-US" sz="1300" kern="1200" dirty="0">
            <a:latin typeface="Arial"/>
            <a:ea typeface="Calibri"/>
            <a:cs typeface="Arial"/>
          </a:endParaRPr>
        </a:p>
      </dsp:txBody>
      <dsp:txXfrm>
        <a:off x="4222818" y="1250149"/>
        <a:ext cx="1782858" cy="1069714"/>
      </dsp:txXfrm>
    </dsp:sp>
    <dsp:sp modelId="{5DF3C9B0-B4A7-4DEA-A05D-EBE8E574B9B2}">
      <dsp:nvSpPr>
        <dsp:cNvPr id="0" name=""/>
        <dsp:cNvSpPr/>
      </dsp:nvSpPr>
      <dsp:spPr>
        <a:xfrm>
          <a:off x="2261674" y="2498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7. Recycler / buyer scans, verifies certificate</a:t>
          </a:r>
          <a:br>
            <a:rPr lang="en-US" sz="1300" kern="1200" dirty="0"/>
          </a:br>
          <a:r>
            <a:rPr lang="en-US" sz="1300" kern="1200" dirty="0"/>
            <a:t> </a:t>
          </a:r>
        </a:p>
      </dsp:txBody>
      <dsp:txXfrm>
        <a:off x="2261674" y="2498149"/>
        <a:ext cx="1782858" cy="1069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%40sokandesujal/how-we-built-a-secure-data-wiping-and-certification-tool-for-it-asset-recycling-d33020e605f9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driems.ac.in/wp-content/uploads/2025/09/Smart-India-Hackathon_PROBLEM-STATEMENTS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64898" y="8758"/>
            <a:ext cx="10492826" cy="1874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592435" y="1210625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991994" y="207498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1366819"/>
            <a:ext cx="8534400" cy="51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chemeClr val="dk1"/>
                </a:solidFill>
                <a:latin typeface="Times New Roman"/>
                <a:cs typeface="Times New Roman"/>
              </a:rPr>
              <a:t>TITLE PAGE</a:t>
            </a:r>
            <a:endParaRPr lang="en-US"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489243"/>
            <a:ext cx="10336925" cy="72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277898"/>
            <a:ext cx="760620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US" sz="1800" b="1" dirty="0">
                <a:solidFill>
                  <a:schemeClr val="dk1"/>
                </a:solidFill>
              </a:rPr>
              <a:t>- </a:t>
            </a:r>
            <a:r>
              <a:rPr lang="en-US" sz="1800" dirty="0">
                <a:solidFill>
                  <a:schemeClr val="dk1"/>
                </a:solidFill>
              </a:rPr>
              <a:t>SIH25070</a:t>
            </a:r>
            <a:endParaRPr lang="en-US" sz="1600" b="1" dirty="0">
              <a:solidFill>
                <a:schemeClr val="dk1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Problem Statement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Title </a:t>
            </a:r>
            <a:r>
              <a:rPr lang="en-US" sz="2400" b="1" dirty="0">
                <a:solidFill>
                  <a:schemeClr val="dk1"/>
                </a:solidFill>
              </a:rPr>
              <a:t>- </a:t>
            </a:r>
            <a:endParaRPr lang="en-US"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Theme </a:t>
            </a:r>
            <a:r>
              <a:rPr lang="en-US" sz="2400" b="1" dirty="0">
                <a:solidFill>
                  <a:schemeClr val="dk1"/>
                </a:solidFill>
              </a:rPr>
              <a:t>-</a:t>
            </a:r>
            <a:endParaRPr lang="en-US" sz="120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</a:t>
            </a:r>
            <a:r>
              <a:rPr lang="en-US" sz="1800" b="1" dirty="0">
                <a:solidFill>
                  <a:schemeClr val="dk1"/>
                </a:solidFill>
              </a:rPr>
              <a:t>Category -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1800" b="1" dirty="0">
                <a:solidFill>
                  <a:schemeClr val="dk1"/>
                </a:solidFill>
              </a:rPr>
              <a:t>ID -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 dirty="0">
                <a:solidFill>
                  <a:schemeClr val="dk1"/>
                </a:solidFill>
              </a:rPr>
              <a:t> - </a:t>
            </a:r>
            <a:r>
              <a:rPr lang="en-US" sz="1600" dirty="0">
                <a:solidFill>
                  <a:schemeClr val="dk1"/>
                </a:solidFill>
              </a:rPr>
              <a:t>Byte blasters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1BDA7A-FEDB-C666-081E-6B36BB8D01AC}"/>
              </a:ext>
            </a:extLst>
          </p:cNvPr>
          <p:cNvSpPr txBox="1"/>
          <p:nvPr/>
        </p:nvSpPr>
        <p:spPr>
          <a:xfrm>
            <a:off x="3599518" y="3046904"/>
            <a:ext cx="399119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</a:rPr>
              <a:t>Secure Data Wiping for Trustworthy IT Asset Recycling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2A302-505F-DD81-6EAE-B95D0A66BAB9}"/>
              </a:ext>
            </a:extLst>
          </p:cNvPr>
          <p:cNvSpPr txBox="1"/>
          <p:nvPr/>
        </p:nvSpPr>
        <p:spPr>
          <a:xfrm>
            <a:off x="1762124" y="3917156"/>
            <a:ext cx="48339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</a:rPr>
              <a:t>Software / Miscellaneous 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113862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98120" y="0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329565" y="252095"/>
            <a:ext cx="2081530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</a:p>
        </p:txBody>
      </p:sp>
      <p:sp>
        <p:nvSpPr>
          <p:cNvPr id="105" name="Google Shape;105;p2"/>
          <p:cNvSpPr txBox="1"/>
          <p:nvPr/>
        </p:nvSpPr>
        <p:spPr>
          <a:xfrm>
            <a:off x="546100" y="1713997"/>
            <a:ext cx="5427848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r>
              <a:rPr lang="en-US" sz="1800" b="1">
                <a:ea typeface="Calibri"/>
              </a:rPr>
              <a:t>Idea Title:</a:t>
            </a:r>
            <a:r>
              <a:rPr lang="en-US" sz="1800" dirty="0">
                <a:ea typeface="Calibri"/>
              </a:rPr>
              <a:t> </a:t>
            </a:r>
            <a:r>
              <a:rPr lang="en-US" sz="1800" i="1" err="1">
                <a:ea typeface="Calibri"/>
              </a:rPr>
              <a:t>ZeroTrace</a:t>
            </a:r>
            <a:r>
              <a:rPr lang="en-US" sz="1800" i="1" dirty="0">
                <a:ea typeface="Calibri"/>
              </a:rPr>
              <a:t>:</a:t>
            </a:r>
            <a:endParaRPr lang="en-US" i="1" dirty="0" err="1"/>
          </a:p>
          <a:p>
            <a:pPr>
              <a:buFont typeface="Arial"/>
              <a:buChar char="•"/>
            </a:pPr>
            <a:endParaRPr lang="en-US" sz="1800" i="1" dirty="0">
              <a:ea typeface="Calibri"/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A secure wiping solution ensuring sensitive data on old IT assets is permanently erased before resale/recycling.</a:t>
            </a:r>
            <a:endParaRPr lang="en-US" dirty="0"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 err="1">
                <a:ea typeface="Calibri"/>
                <a:sym typeface="Calibri"/>
              </a:rPr>
              <a:t>IStores</a:t>
            </a:r>
            <a:r>
              <a:rPr lang="en-US" sz="1800" dirty="0">
                <a:ea typeface="Calibri"/>
                <a:sym typeface="Calibri"/>
              </a:rPr>
              <a:t> wipe certificates on blockchain, ensuring they cannot be forged.</a:t>
            </a:r>
            <a:endParaRPr lang="en-US" dirty="0"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Provides each device with a verifiable QR code / digital certificate that anyone can scan to confirm secure erasure.</a:t>
            </a:r>
            <a:endParaRPr lang="en-US" dirty="0"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Supports wiping across multiple platforms: laptops, SSDs, mobiles, external drives.</a:t>
            </a:r>
            <a:endParaRPr lang="en-US" dirty="0">
              <a:sym typeface="Calibri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Calibri"/>
                <a:sym typeface="Calibri"/>
              </a:rPr>
              <a:t>Offers an organizational dashboard for bulk wiping, certificate management, and compliance auditing.</a:t>
            </a:r>
            <a:endParaRPr lang="en-US" dirty="0">
              <a:sym typeface="Calibri"/>
            </a:endParaRPr>
          </a:p>
          <a:p>
            <a:pPr>
              <a:buFont typeface="Arial"/>
              <a:buChar char="•"/>
            </a:pPr>
            <a:endParaRPr lang="en-US" sz="1800" dirty="0">
              <a:ea typeface="Calibri"/>
            </a:endParaRPr>
          </a:p>
          <a:p>
            <a:pPr marL="285750" indent="-285750">
              <a:buFont typeface="Arial"/>
              <a:buChar char="•"/>
            </a:pPr>
            <a:endParaRPr lang="en-US" sz="1800" dirty="0">
              <a:ea typeface="Calibri"/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Unique / innovative aspects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endParaRPr lang="en-US" dirty="0">
              <a:solidFill>
                <a:schemeClr val="accent1"/>
              </a:solidFill>
            </a:endParaRPr>
          </a:p>
          <a:p>
            <a:pPr marL="285750" lvl="0" indent="-285750" algn="l">
              <a:spcBef>
                <a:spcPts val="0"/>
              </a:spcBef>
              <a:spcAft>
                <a:spcPts val="0"/>
              </a:spcAft>
              <a:buChar char="•"/>
            </a:pPr>
            <a:endParaRPr lang="en-US" dirty="0">
              <a:solidFill>
                <a:srgbClr val="4F81BD"/>
              </a:solidFill>
              <a:ea typeface="Calibri"/>
            </a:endParaRPr>
          </a:p>
          <a:p>
            <a:pPr lvl="1"/>
            <a:r>
              <a:rPr lang="en-US" sz="1800" dirty="0">
                <a:ea typeface="Calibri"/>
                <a:sym typeface="Calibri"/>
              </a:rPr>
              <a:t>   • Uses blockchain or distributed ledger to log wipe events (immutable)</a:t>
            </a:r>
            <a:br>
              <a:rPr lang="en-US" sz="1800" dirty="0">
                <a:ea typeface="Calibri"/>
                <a:sym typeface="Calibri"/>
              </a:rPr>
            </a:br>
            <a:r>
              <a:rPr lang="en-US" sz="1800" dirty="0">
                <a:ea typeface="Calibri"/>
                <a:sym typeface="Calibri"/>
              </a:rPr>
              <a:t>  • Cryptographic proofs &amp; QR codes for verification</a:t>
            </a:r>
            <a:br>
              <a:rPr lang="en-US" sz="1800" dirty="0">
                <a:ea typeface="Calibri"/>
                <a:sym typeface="Calibri"/>
              </a:rPr>
            </a:br>
            <a:r>
              <a:rPr lang="en-US" sz="1800" dirty="0">
                <a:ea typeface="Calibri"/>
                <a:sym typeface="Calibri"/>
              </a:rPr>
              <a:t>  • Supports advanced wiping (SSD quirks, hidden sectors)</a:t>
            </a:r>
            <a:endParaRPr dirty="0">
              <a:solidFill>
                <a:srgbClr val="000000"/>
              </a:solidFill>
              <a:ea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43955" y="1470660"/>
            <a:ext cx="551307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How it solves the problem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 </a:t>
            </a:r>
            <a:endParaRPr lang="en-US"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>
                <a:ea typeface="Calibri"/>
              </a:rPr>
              <a:t>Prevents counterfeit/duplicate herbs</a:t>
            </a: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 dirty="0">
                <a:ea typeface="Calibri"/>
              </a:rPr>
              <a:t>Ensures transparency for consumers &amp; regulators</a:t>
            </a:r>
          </a:p>
          <a:p>
            <a:pPr marL="285750" indent="-285750">
              <a:buSzPts val="1800"/>
              <a:buFont typeface="Arial,Sans-Serif"/>
              <a:buChar char="•"/>
            </a:pPr>
            <a:r>
              <a:rPr lang="en-US" sz="1800" dirty="0">
                <a:ea typeface="Calibri"/>
              </a:rPr>
              <a:t>Immutable audit trail</a:t>
            </a:r>
          </a:p>
          <a:p>
            <a:pPr marL="285750" marR="0" lvl="0" indent="-28575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114415" y="1463040"/>
            <a:ext cx="5543550" cy="235267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61902"/>
            <a:ext cx="5543550" cy="475772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1" name="Google Shape;121;p3" descr="Your startup LOGO"/>
          <p:cNvSpPr/>
          <p:nvPr/>
        </p:nvSpPr>
        <p:spPr>
          <a:xfrm>
            <a:off x="329565" y="252095"/>
            <a:ext cx="1929765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16910" y="1837186"/>
            <a:ext cx="4084692" cy="318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>
                <a:solidFill>
                  <a:schemeClr val="dk1"/>
                </a:solidFill>
                <a:ea typeface="Calibri"/>
              </a:rPr>
              <a:t>Tech stack</a:t>
            </a:r>
            <a:r>
              <a:rPr lang="en-US" sz="1600" dirty="0">
                <a:solidFill>
                  <a:schemeClr val="dk1"/>
                </a:solidFill>
                <a:ea typeface="Calibri"/>
              </a:rPr>
              <a:t>:</a:t>
            </a:r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Backend: Python / Node.js / Go</a:t>
            </a: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Blockchain / ledger: Hyperledger / Ethereum / private ledger</a:t>
            </a: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Smart contracts to validate wiping steps</a:t>
            </a: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Frontend: Web + mobile app for status / scanning</a:t>
            </a: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Crypto libs for hashing, signatures</a:t>
            </a:r>
            <a:endParaRPr lang="en-US" sz="1600">
              <a:solidFill>
                <a:schemeClr val="dk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9872" y="1707144"/>
            <a:ext cx="4258310" cy="3452692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476240" y="1270000"/>
            <a:ext cx="288798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sz="16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20285" y="5497830"/>
            <a:ext cx="6887210" cy="58801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368925" y="5490210"/>
            <a:ext cx="618045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Status: 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B168BD2-5AD5-C460-9897-AA283FC74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916704"/>
              </p:ext>
            </p:extLst>
          </p:nvPr>
        </p:nvGraphicFramePr>
        <p:xfrm>
          <a:off x="4992413" y="1591440"/>
          <a:ext cx="6306207" cy="3570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38" name="Google Shape;138;p4" descr="Your startup LOGO"/>
          <p:cNvSpPr/>
          <p:nvPr/>
        </p:nvSpPr>
        <p:spPr>
          <a:xfrm>
            <a:off x="329773" y="243488"/>
            <a:ext cx="1558408" cy="81609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152985" y="3709061"/>
            <a:ext cx="5697921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sz="1800" b="1" dirty="0"/>
              <a:t>Mitigation Strategies:</a:t>
            </a:r>
          </a:p>
          <a:p>
            <a:pPr algn="just"/>
            <a:endParaRPr lang="en-US" dirty="0"/>
          </a:p>
          <a:p>
            <a:r>
              <a:rPr lang="en-US" sz="1600" dirty="0"/>
              <a:t>   • Use cryptographic attestation &amp; secure enclave methods</a:t>
            </a:r>
            <a:endParaRPr lang="en-US" dirty="0"/>
          </a:p>
          <a:p>
            <a:br>
              <a:rPr lang="en-US" sz="1600" dirty="0"/>
            </a:br>
            <a:r>
              <a:rPr lang="en-US" sz="1600" dirty="0"/>
              <a:t>  • Secure the wiping module, audits, code open / verifiable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  • Incentivize adoption (certified label gives value)</a:t>
            </a:r>
            <a:endParaRPr lang="en-US"/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98C17-4FF1-FA7A-B187-88EDC801384B}"/>
              </a:ext>
            </a:extLst>
          </p:cNvPr>
          <p:cNvSpPr txBox="1"/>
          <p:nvPr/>
        </p:nvSpPr>
        <p:spPr>
          <a:xfrm>
            <a:off x="1149158" y="1340753"/>
            <a:ext cx="5786713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 dirty="0"/>
              <a:t>Why it's Practical:</a:t>
            </a:r>
          </a:p>
          <a:p>
            <a:pPr algn="just"/>
            <a:endParaRPr lang="en-US" sz="1600" dirty="0"/>
          </a:p>
          <a:p>
            <a:r>
              <a:rPr lang="en-US" sz="1600" dirty="0"/>
              <a:t> • Many tools exist; combining with blockchain + certification gives added trust</a:t>
            </a:r>
            <a:br>
              <a:rPr lang="en-US" sz="1600" dirty="0"/>
            </a:br>
            <a:r>
              <a:rPr lang="en-US" sz="1600" dirty="0"/>
              <a:t>  • Users / organizations have incentive to ensure data is removed</a:t>
            </a:r>
            <a:br>
              <a:rPr lang="en-US" sz="1600" dirty="0"/>
            </a:br>
            <a:r>
              <a:rPr lang="en-US" sz="1600" dirty="0"/>
              <a:t>  • Devices are already digital, so interface integration possible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50" name="Google Shape;150;p5" descr="Your startup LOGO"/>
          <p:cNvSpPr/>
          <p:nvPr/>
        </p:nvSpPr>
        <p:spPr>
          <a:xfrm>
            <a:off x="408601" y="234729"/>
            <a:ext cx="1663511" cy="851126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84772" y="2060687"/>
            <a:ext cx="404123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1800" b="1" dirty="0"/>
              <a:t>Target  Beneficiaries:</a:t>
            </a:r>
            <a:endParaRPr lang="en-US" sz="1800" b="1" dirty="0">
              <a:ea typeface="Calibri"/>
            </a:endParaRPr>
          </a:p>
          <a:p>
            <a:pPr>
              <a:buSzPts val="2800"/>
            </a:pPr>
            <a:endParaRPr lang="en-US" sz="2000" dirty="0">
              <a:solidFill>
                <a:schemeClr val="dk1"/>
              </a:solidFill>
              <a:ea typeface="Calibri"/>
            </a:endParaRPr>
          </a:p>
          <a:p>
            <a:r>
              <a:rPr lang="en-US" sz="1600" dirty="0">
                <a:solidFill>
                  <a:schemeClr val="dk1"/>
                </a:solidFill>
                <a:ea typeface="Calibri"/>
              </a:rPr>
              <a:t>   •</a:t>
            </a: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 Individuals, companies disposing old hardware</a:t>
            </a:r>
            <a:b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  • E-waste recyclers and </a:t>
            </a:r>
            <a:r>
              <a:rPr lang="en-US" sz="1600" err="1">
                <a:solidFill>
                  <a:schemeClr val="dk1"/>
                </a:solidFill>
                <a:ea typeface="Calibri"/>
                <a:sym typeface="Calibri"/>
              </a:rPr>
              <a:t>refurbishers</a:t>
            </a:r>
            <a:b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  • Regulators / auditors</a:t>
            </a:r>
            <a:b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  <a:sym typeface="Calibri"/>
              </a:rPr>
              <a:t>  • End buyers of refurbished devices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2825A8-DE03-7765-5DF4-FE7AC8AA5BF6}"/>
              </a:ext>
            </a:extLst>
          </p:cNvPr>
          <p:cNvSpPr txBox="1"/>
          <p:nvPr/>
        </p:nvSpPr>
        <p:spPr>
          <a:xfrm>
            <a:off x="6092990" y="2226469"/>
            <a:ext cx="5960788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Key Benefits:</a:t>
            </a:r>
            <a:endParaRPr lang="en-US"/>
          </a:p>
          <a:p>
            <a:pPr algn="ctr"/>
            <a:endParaRPr lang="en-US" sz="1800" b="1" dirty="0"/>
          </a:p>
          <a:p>
            <a:r>
              <a:rPr lang="en-US" sz="1600" dirty="0"/>
              <a:t>   • Reduces risk of data breaches from reused hardware</a:t>
            </a:r>
            <a:br>
              <a:rPr lang="en-US" sz="1600" dirty="0"/>
            </a:br>
            <a:r>
              <a:rPr lang="en-US" sz="1600" dirty="0"/>
              <a:t>  • Boosts trust in circular IT economy</a:t>
            </a:r>
            <a:br>
              <a:rPr lang="en-US" sz="1600" dirty="0"/>
            </a:br>
            <a:r>
              <a:rPr lang="en-US" sz="1600" dirty="0"/>
              <a:t>  • Helps compliance with privacy / data protection laws</a:t>
            </a:r>
            <a:br>
              <a:rPr lang="en-US" sz="1600" dirty="0"/>
            </a:br>
            <a:r>
              <a:rPr lang="en-US" sz="1600" dirty="0"/>
              <a:t>  • Provides extra value (certified devices fetch better price)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10F04-8415-B7C5-DDF7-F60FD7C6E3A1}"/>
              </a:ext>
            </a:extLst>
          </p:cNvPr>
          <p:cNvSpPr txBox="1"/>
          <p:nvPr/>
        </p:nvSpPr>
        <p:spPr>
          <a:xfrm>
            <a:off x="2256716" y="4593349"/>
            <a:ext cx="6480828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Future Scalability:</a:t>
            </a:r>
          </a:p>
          <a:p>
            <a:endParaRPr lang="en-US" sz="1800" b="1" dirty="0"/>
          </a:p>
          <a:p>
            <a:r>
              <a:rPr lang="en-US" sz="1600" dirty="0"/>
              <a:t>   • Expand to embedded devices, IoT gear</a:t>
            </a:r>
            <a:br>
              <a:rPr lang="en-US" sz="1600" dirty="0"/>
            </a:br>
            <a:r>
              <a:rPr lang="en-US" sz="1600" dirty="0"/>
              <a:t>  • Add marketplace / audit dashboard</a:t>
            </a:r>
            <a:br>
              <a:rPr lang="en-US" sz="1600" dirty="0"/>
            </a:br>
            <a:r>
              <a:rPr lang="en-US" sz="1600" dirty="0"/>
              <a:t>  • Global standard certification usage</a:t>
            </a:r>
            <a:endParaRPr lang="en-US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389117" y="1936918"/>
            <a:ext cx="9420334" cy="444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1800" b="1" dirty="0"/>
              <a:t>Key Research Sources:</a:t>
            </a:r>
          </a:p>
          <a:p>
            <a:pPr algn="just"/>
            <a:endParaRPr lang="en-US" dirty="0"/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“How We Built a Secure Data Wiping and Certification Tool for IT Asset Recycling” (Medium)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SIH official problem statement list (SIH25070) from SIH docs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driems.ac.in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Articles on secure IT asset disposal, best practices, standards (e.g. NIST, e-waste guidelines)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buSzPts val="2800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r>
              <a:rPr lang="en-US" sz="1100" dirty="0">
                <a:solidFill>
                  <a:srgbClr val="CCCCCC"/>
                </a:solidFill>
                <a:latin typeface="Consolas"/>
              </a:rPr>
              <a:t>  </a:t>
            </a:r>
            <a:endParaRPr lang="en-US" sz="1100" i="1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800" dirty="0">
              <a:solidFill>
                <a:schemeClr val="tx1"/>
              </a:solidFill>
              <a:latin typeface="Consolas"/>
            </a:endParaRPr>
          </a:p>
          <a:p>
            <a:pPr algn="just">
              <a:buSzPts val="2800"/>
            </a:pPr>
            <a:br>
              <a:rPr lang="en-US" dirty="0"/>
            </a:br>
            <a:endParaRPr lang="en-US"/>
          </a:p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lang="en-US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63" name="Google Shape;163;p6" descr="Your startup LOGO"/>
          <p:cNvSpPr/>
          <p:nvPr/>
        </p:nvSpPr>
        <p:spPr>
          <a:xfrm>
            <a:off x="207153" y="243488"/>
            <a:ext cx="1654751" cy="85112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revision>376</cp:revision>
  <dcterms:created xsi:type="dcterms:W3CDTF">2013-12-12T18:46:00Z</dcterms:created>
  <dcterms:modified xsi:type="dcterms:W3CDTF">2025-09-27T01:44:56Z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